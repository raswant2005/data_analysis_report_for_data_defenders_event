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60" r:id="rId5"/>
    <p:sldId id="263" r:id="rId6"/>
    <p:sldId id="261" r:id="rId7"/>
    <p:sldId id="262" r:id="rId8"/>
    <p:sldId id="259" r:id="rId9"/>
    <p:sldId id="27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9AA1A2-B201-472C-97B0-C9031B49A656}"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0836700-933B-499F-A498-8A17453B81EE}">
      <dgm:prSet/>
      <dgm:spPr/>
      <dgm:t>
        <a:bodyPr/>
        <a:lstStyle/>
        <a:p>
          <a:pPr>
            <a:lnSpc>
              <a:spcPct val="100000"/>
            </a:lnSpc>
            <a:defRPr cap="all"/>
          </a:pPr>
          <a:r>
            <a:rPr lang="en-IN"/>
            <a:t>QUESTIONS ABOUT DATASET.</a:t>
          </a:r>
          <a:endParaRPr lang="en-US"/>
        </a:p>
      </dgm:t>
    </dgm:pt>
    <dgm:pt modelId="{D26B5F99-D8A6-4F8B-BE8C-772E6E8C03C0}" type="parTrans" cxnId="{6CECC92F-663A-4289-A1E7-390C0D6D3B27}">
      <dgm:prSet/>
      <dgm:spPr/>
      <dgm:t>
        <a:bodyPr/>
        <a:lstStyle/>
        <a:p>
          <a:endParaRPr lang="en-US"/>
        </a:p>
      </dgm:t>
    </dgm:pt>
    <dgm:pt modelId="{B34B3DC5-C761-4148-ABC8-4EEC093B1C69}" type="sibTrans" cxnId="{6CECC92F-663A-4289-A1E7-390C0D6D3B27}">
      <dgm:prSet/>
      <dgm:spPr/>
      <dgm:t>
        <a:bodyPr/>
        <a:lstStyle/>
        <a:p>
          <a:endParaRPr lang="en-US"/>
        </a:p>
      </dgm:t>
    </dgm:pt>
    <dgm:pt modelId="{1DC19B4F-9D69-4489-88C2-1DFB82C3333F}">
      <dgm:prSet/>
      <dgm:spPr/>
      <dgm:t>
        <a:bodyPr/>
        <a:lstStyle/>
        <a:p>
          <a:pPr>
            <a:lnSpc>
              <a:spcPct val="100000"/>
            </a:lnSpc>
            <a:defRPr cap="all"/>
          </a:pPr>
          <a:r>
            <a:rPr lang="en-IN"/>
            <a:t>ANALYSIS QUESTIONS</a:t>
          </a:r>
          <a:endParaRPr lang="en-US"/>
        </a:p>
      </dgm:t>
    </dgm:pt>
    <dgm:pt modelId="{6439E015-BDBA-4F2A-A34B-84E4BDB47947}" type="parTrans" cxnId="{99933AA4-5CFE-49B1-9C10-FB3D1F6D439E}">
      <dgm:prSet/>
      <dgm:spPr/>
      <dgm:t>
        <a:bodyPr/>
        <a:lstStyle/>
        <a:p>
          <a:endParaRPr lang="en-US"/>
        </a:p>
      </dgm:t>
    </dgm:pt>
    <dgm:pt modelId="{2BFEF3BD-A828-4D67-BC73-181096D6B070}" type="sibTrans" cxnId="{99933AA4-5CFE-49B1-9C10-FB3D1F6D439E}">
      <dgm:prSet/>
      <dgm:spPr/>
      <dgm:t>
        <a:bodyPr/>
        <a:lstStyle/>
        <a:p>
          <a:endParaRPr lang="en-US"/>
        </a:p>
      </dgm:t>
    </dgm:pt>
    <dgm:pt modelId="{A8BA7C68-AFE2-4B2F-84DD-D6F39BFF5D9B}" type="pres">
      <dgm:prSet presAssocID="{479AA1A2-B201-472C-97B0-C9031B49A656}" presName="root" presStyleCnt="0">
        <dgm:presLayoutVars>
          <dgm:dir/>
          <dgm:resizeHandles val="exact"/>
        </dgm:presLayoutVars>
      </dgm:prSet>
      <dgm:spPr/>
    </dgm:pt>
    <dgm:pt modelId="{0FC4A4EA-A51E-4372-8832-04EC44441372}" type="pres">
      <dgm:prSet presAssocID="{70836700-933B-499F-A498-8A17453B81EE}" presName="compNode" presStyleCnt="0"/>
      <dgm:spPr/>
    </dgm:pt>
    <dgm:pt modelId="{6814FB97-FCE2-4C90-955C-69231F1E2DF0}" type="pres">
      <dgm:prSet presAssocID="{70836700-933B-499F-A498-8A17453B81EE}" presName="iconBgRect" presStyleLbl="bgShp" presStyleIdx="0" presStyleCnt="2"/>
      <dgm:spPr>
        <a:prstGeom prst="round2DiagRect">
          <a:avLst>
            <a:gd name="adj1" fmla="val 29727"/>
            <a:gd name="adj2" fmla="val 0"/>
          </a:avLst>
        </a:prstGeom>
      </dgm:spPr>
    </dgm:pt>
    <dgm:pt modelId="{3D6EF4CE-A4B0-4B6A-BC4A-55EC1403DE71}" type="pres">
      <dgm:prSet presAssocID="{70836700-933B-499F-A498-8A17453B81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86D3458D-BABB-4C35-8AF8-F287AA5F232D}" type="pres">
      <dgm:prSet presAssocID="{70836700-933B-499F-A498-8A17453B81EE}" presName="spaceRect" presStyleCnt="0"/>
      <dgm:spPr/>
    </dgm:pt>
    <dgm:pt modelId="{27B70A08-907C-4930-BD28-406B9C26309B}" type="pres">
      <dgm:prSet presAssocID="{70836700-933B-499F-A498-8A17453B81EE}" presName="textRect" presStyleLbl="revTx" presStyleIdx="0" presStyleCnt="2">
        <dgm:presLayoutVars>
          <dgm:chMax val="1"/>
          <dgm:chPref val="1"/>
        </dgm:presLayoutVars>
      </dgm:prSet>
      <dgm:spPr/>
    </dgm:pt>
    <dgm:pt modelId="{04CDF0C1-56DF-4F76-B5A4-2CAD1D115D7C}" type="pres">
      <dgm:prSet presAssocID="{B34B3DC5-C761-4148-ABC8-4EEC093B1C69}" presName="sibTrans" presStyleCnt="0"/>
      <dgm:spPr/>
    </dgm:pt>
    <dgm:pt modelId="{06D73ECE-C62F-4C1E-B552-6F4CBAE9902B}" type="pres">
      <dgm:prSet presAssocID="{1DC19B4F-9D69-4489-88C2-1DFB82C3333F}" presName="compNode" presStyleCnt="0"/>
      <dgm:spPr/>
    </dgm:pt>
    <dgm:pt modelId="{7D7636C2-005E-445A-8D65-55EF5441645C}" type="pres">
      <dgm:prSet presAssocID="{1DC19B4F-9D69-4489-88C2-1DFB82C3333F}" presName="iconBgRect" presStyleLbl="bgShp" presStyleIdx="1" presStyleCnt="2"/>
      <dgm:spPr>
        <a:prstGeom prst="round2DiagRect">
          <a:avLst>
            <a:gd name="adj1" fmla="val 29727"/>
            <a:gd name="adj2" fmla="val 0"/>
          </a:avLst>
        </a:prstGeom>
      </dgm:spPr>
    </dgm:pt>
    <dgm:pt modelId="{24400577-D83D-46B9-BD44-4ADB2F5859EE}" type="pres">
      <dgm:prSet presAssocID="{1DC19B4F-9D69-4489-88C2-1DFB82C3333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BBF9A79C-83C3-4BF4-8240-349FA349F73D}" type="pres">
      <dgm:prSet presAssocID="{1DC19B4F-9D69-4489-88C2-1DFB82C3333F}" presName="spaceRect" presStyleCnt="0"/>
      <dgm:spPr/>
    </dgm:pt>
    <dgm:pt modelId="{B29DA077-600E-457E-8B8C-B3FB438EF865}" type="pres">
      <dgm:prSet presAssocID="{1DC19B4F-9D69-4489-88C2-1DFB82C3333F}" presName="textRect" presStyleLbl="revTx" presStyleIdx="1" presStyleCnt="2">
        <dgm:presLayoutVars>
          <dgm:chMax val="1"/>
          <dgm:chPref val="1"/>
        </dgm:presLayoutVars>
      </dgm:prSet>
      <dgm:spPr/>
    </dgm:pt>
  </dgm:ptLst>
  <dgm:cxnLst>
    <dgm:cxn modelId="{FF5A5E29-5417-48C8-8ECA-9934D7D9710C}" type="presOf" srcId="{1DC19B4F-9D69-4489-88C2-1DFB82C3333F}" destId="{B29DA077-600E-457E-8B8C-B3FB438EF865}" srcOrd="0" destOrd="0" presId="urn:microsoft.com/office/officeart/2018/5/layout/IconLeafLabelList"/>
    <dgm:cxn modelId="{6CECC92F-663A-4289-A1E7-390C0D6D3B27}" srcId="{479AA1A2-B201-472C-97B0-C9031B49A656}" destId="{70836700-933B-499F-A498-8A17453B81EE}" srcOrd="0" destOrd="0" parTransId="{D26B5F99-D8A6-4F8B-BE8C-772E6E8C03C0}" sibTransId="{B34B3DC5-C761-4148-ABC8-4EEC093B1C69}"/>
    <dgm:cxn modelId="{CC8F757D-A6BD-4190-8030-B310ADBE50B1}" type="presOf" srcId="{70836700-933B-499F-A498-8A17453B81EE}" destId="{27B70A08-907C-4930-BD28-406B9C26309B}" srcOrd="0" destOrd="0" presId="urn:microsoft.com/office/officeart/2018/5/layout/IconLeafLabelList"/>
    <dgm:cxn modelId="{99933AA4-5CFE-49B1-9C10-FB3D1F6D439E}" srcId="{479AA1A2-B201-472C-97B0-C9031B49A656}" destId="{1DC19B4F-9D69-4489-88C2-1DFB82C3333F}" srcOrd="1" destOrd="0" parTransId="{6439E015-BDBA-4F2A-A34B-84E4BDB47947}" sibTransId="{2BFEF3BD-A828-4D67-BC73-181096D6B070}"/>
    <dgm:cxn modelId="{3C34F8B3-E15C-4DFE-A9F3-984A2A723B31}" type="presOf" srcId="{479AA1A2-B201-472C-97B0-C9031B49A656}" destId="{A8BA7C68-AFE2-4B2F-84DD-D6F39BFF5D9B}" srcOrd="0" destOrd="0" presId="urn:microsoft.com/office/officeart/2018/5/layout/IconLeafLabelList"/>
    <dgm:cxn modelId="{D47BF177-0211-4A83-82DE-25B70E691890}" type="presParOf" srcId="{A8BA7C68-AFE2-4B2F-84DD-D6F39BFF5D9B}" destId="{0FC4A4EA-A51E-4372-8832-04EC44441372}" srcOrd="0" destOrd="0" presId="urn:microsoft.com/office/officeart/2018/5/layout/IconLeafLabelList"/>
    <dgm:cxn modelId="{DD8CBBEF-E914-4B77-B744-7D56558B35CF}" type="presParOf" srcId="{0FC4A4EA-A51E-4372-8832-04EC44441372}" destId="{6814FB97-FCE2-4C90-955C-69231F1E2DF0}" srcOrd="0" destOrd="0" presId="urn:microsoft.com/office/officeart/2018/5/layout/IconLeafLabelList"/>
    <dgm:cxn modelId="{DC05F7F3-1919-4837-ACF7-0B7CB1417F4F}" type="presParOf" srcId="{0FC4A4EA-A51E-4372-8832-04EC44441372}" destId="{3D6EF4CE-A4B0-4B6A-BC4A-55EC1403DE71}" srcOrd="1" destOrd="0" presId="urn:microsoft.com/office/officeart/2018/5/layout/IconLeafLabelList"/>
    <dgm:cxn modelId="{08494B9C-C65D-4E08-8B47-FED59DF728CF}" type="presParOf" srcId="{0FC4A4EA-A51E-4372-8832-04EC44441372}" destId="{86D3458D-BABB-4C35-8AF8-F287AA5F232D}" srcOrd="2" destOrd="0" presId="urn:microsoft.com/office/officeart/2018/5/layout/IconLeafLabelList"/>
    <dgm:cxn modelId="{9DFB3461-3600-42AB-849B-28E8FA289D3A}" type="presParOf" srcId="{0FC4A4EA-A51E-4372-8832-04EC44441372}" destId="{27B70A08-907C-4930-BD28-406B9C26309B}" srcOrd="3" destOrd="0" presId="urn:microsoft.com/office/officeart/2018/5/layout/IconLeafLabelList"/>
    <dgm:cxn modelId="{4B663A4D-5FDA-4DFB-9B98-D5BF41438A13}" type="presParOf" srcId="{A8BA7C68-AFE2-4B2F-84DD-D6F39BFF5D9B}" destId="{04CDF0C1-56DF-4F76-B5A4-2CAD1D115D7C}" srcOrd="1" destOrd="0" presId="urn:microsoft.com/office/officeart/2018/5/layout/IconLeafLabelList"/>
    <dgm:cxn modelId="{0C51BE5A-06CE-4B3A-A569-29F52AB73A1D}" type="presParOf" srcId="{A8BA7C68-AFE2-4B2F-84DD-D6F39BFF5D9B}" destId="{06D73ECE-C62F-4C1E-B552-6F4CBAE9902B}" srcOrd="2" destOrd="0" presId="urn:microsoft.com/office/officeart/2018/5/layout/IconLeafLabelList"/>
    <dgm:cxn modelId="{5AC245D6-8BDD-4FA5-826E-C57CCFBC5CEB}" type="presParOf" srcId="{06D73ECE-C62F-4C1E-B552-6F4CBAE9902B}" destId="{7D7636C2-005E-445A-8D65-55EF5441645C}" srcOrd="0" destOrd="0" presId="urn:microsoft.com/office/officeart/2018/5/layout/IconLeafLabelList"/>
    <dgm:cxn modelId="{2DC35BE6-0BD4-4323-AACD-E884D07F1D42}" type="presParOf" srcId="{06D73ECE-C62F-4C1E-B552-6F4CBAE9902B}" destId="{24400577-D83D-46B9-BD44-4ADB2F5859EE}" srcOrd="1" destOrd="0" presId="urn:microsoft.com/office/officeart/2018/5/layout/IconLeafLabelList"/>
    <dgm:cxn modelId="{CA200A58-307D-4C00-8D61-692034971307}" type="presParOf" srcId="{06D73ECE-C62F-4C1E-B552-6F4CBAE9902B}" destId="{BBF9A79C-83C3-4BF4-8240-349FA349F73D}" srcOrd="2" destOrd="0" presId="urn:microsoft.com/office/officeart/2018/5/layout/IconLeafLabelList"/>
    <dgm:cxn modelId="{5B10010F-199F-489F-9019-2B55F91F5645}" type="presParOf" srcId="{06D73ECE-C62F-4C1E-B552-6F4CBAE9902B}" destId="{B29DA077-600E-457E-8B8C-B3FB438EF865}"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0A7B04-F4A1-4A3A-ACFD-CF59BDC861A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8542A5D6-B65B-467C-80D5-409D42FF10C4}">
      <dgm:prSet/>
      <dgm:spPr/>
      <dgm:t>
        <a:bodyPr/>
        <a:lstStyle/>
        <a:p>
          <a:pPr>
            <a:lnSpc>
              <a:spcPct val="100000"/>
            </a:lnSpc>
            <a:defRPr cap="all"/>
          </a:pPr>
          <a:r>
            <a:rPr lang="en-US"/>
            <a:t>*Afghanistan stands out as having the highest Cybersecurity Exposure Index (CEI) score of 1.00 in the Asia-Pacific region, significantly above the regional median of around 0.3.</a:t>
          </a:r>
        </a:p>
      </dgm:t>
    </dgm:pt>
    <dgm:pt modelId="{5997843D-1352-464C-B71E-F2FFB3E64C8F}" type="parTrans" cxnId="{3A686D11-ADCE-4928-833E-D6E073A00B0E}">
      <dgm:prSet/>
      <dgm:spPr/>
      <dgm:t>
        <a:bodyPr/>
        <a:lstStyle/>
        <a:p>
          <a:endParaRPr lang="en-US"/>
        </a:p>
      </dgm:t>
    </dgm:pt>
    <dgm:pt modelId="{2239FE29-CE6E-4E06-96CD-ECE178261E45}" type="sibTrans" cxnId="{3A686D11-ADCE-4928-833E-D6E073A00B0E}">
      <dgm:prSet/>
      <dgm:spPr/>
      <dgm:t>
        <a:bodyPr/>
        <a:lstStyle/>
        <a:p>
          <a:endParaRPr lang="en-US"/>
        </a:p>
      </dgm:t>
    </dgm:pt>
    <dgm:pt modelId="{2D17E741-B70B-4D7F-8525-FFBA27AADCB3}">
      <dgm:prSet/>
      <dgm:spPr/>
      <dgm:t>
        <a:bodyPr/>
        <a:lstStyle/>
        <a:p>
          <a:pPr>
            <a:lnSpc>
              <a:spcPct val="100000"/>
            </a:lnSpc>
            <a:defRPr cap="all"/>
          </a:pPr>
          <a:r>
            <a:rPr lang="en-US"/>
            <a:t>* However, its low Global Cybersecurity Index (GCI) of 5.20 and National Cyber Security Index (NCSI) of 11.69 suggest that despite facing the highest cybersecurity risks, Afghanistan may have limited measures in place to address these challenges compared to its regional counterparts</a:t>
          </a:r>
        </a:p>
      </dgm:t>
    </dgm:pt>
    <dgm:pt modelId="{7A13B0C7-E76C-486C-8450-7438EC1F1757}" type="parTrans" cxnId="{99C33173-354E-4FB4-96DD-987C66391F7C}">
      <dgm:prSet/>
      <dgm:spPr/>
      <dgm:t>
        <a:bodyPr/>
        <a:lstStyle/>
        <a:p>
          <a:endParaRPr lang="en-US"/>
        </a:p>
      </dgm:t>
    </dgm:pt>
    <dgm:pt modelId="{CABAF06C-9B2B-4F7E-B4CF-FD584A44053A}" type="sibTrans" cxnId="{99C33173-354E-4FB4-96DD-987C66391F7C}">
      <dgm:prSet/>
      <dgm:spPr/>
      <dgm:t>
        <a:bodyPr/>
        <a:lstStyle/>
        <a:p>
          <a:endParaRPr lang="en-US"/>
        </a:p>
      </dgm:t>
    </dgm:pt>
    <dgm:pt modelId="{FE75FCAB-2768-4177-914B-2AD6E022207F}" type="pres">
      <dgm:prSet presAssocID="{F40A7B04-F4A1-4A3A-ACFD-CF59BDC861A9}" presName="root" presStyleCnt="0">
        <dgm:presLayoutVars>
          <dgm:dir/>
          <dgm:resizeHandles val="exact"/>
        </dgm:presLayoutVars>
      </dgm:prSet>
      <dgm:spPr/>
    </dgm:pt>
    <dgm:pt modelId="{0EFAEC13-7B06-478D-B3F0-5A4AB0D0DE41}" type="pres">
      <dgm:prSet presAssocID="{8542A5D6-B65B-467C-80D5-409D42FF10C4}" presName="compNode" presStyleCnt="0"/>
      <dgm:spPr/>
    </dgm:pt>
    <dgm:pt modelId="{EE4FB902-BD02-415A-9928-92D4573956DE}" type="pres">
      <dgm:prSet presAssocID="{8542A5D6-B65B-467C-80D5-409D42FF10C4}" presName="iconBgRect" presStyleLbl="bgShp" presStyleIdx="0" presStyleCnt="2"/>
      <dgm:spPr/>
    </dgm:pt>
    <dgm:pt modelId="{35416943-B5CF-4D97-AAF3-54FC50DB854A}" type="pres">
      <dgm:prSet presAssocID="{8542A5D6-B65B-467C-80D5-409D42FF10C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arth Globe Asia-Australia"/>
        </a:ext>
      </dgm:extLst>
    </dgm:pt>
    <dgm:pt modelId="{9C4F18E4-9D17-4610-A6E6-CA289316805F}" type="pres">
      <dgm:prSet presAssocID="{8542A5D6-B65B-467C-80D5-409D42FF10C4}" presName="spaceRect" presStyleCnt="0"/>
      <dgm:spPr/>
    </dgm:pt>
    <dgm:pt modelId="{936E64E6-4056-4668-BC59-6569A1F0F92C}" type="pres">
      <dgm:prSet presAssocID="{8542A5D6-B65B-467C-80D5-409D42FF10C4}" presName="textRect" presStyleLbl="revTx" presStyleIdx="0" presStyleCnt="2">
        <dgm:presLayoutVars>
          <dgm:chMax val="1"/>
          <dgm:chPref val="1"/>
        </dgm:presLayoutVars>
      </dgm:prSet>
      <dgm:spPr/>
    </dgm:pt>
    <dgm:pt modelId="{EFFFD17B-21E7-4304-A7D1-FAE2BCC2CBAE}" type="pres">
      <dgm:prSet presAssocID="{2239FE29-CE6E-4E06-96CD-ECE178261E45}" presName="sibTrans" presStyleCnt="0"/>
      <dgm:spPr/>
    </dgm:pt>
    <dgm:pt modelId="{E4E2ABBB-2D36-494F-A1E5-C76A82A385EF}" type="pres">
      <dgm:prSet presAssocID="{2D17E741-B70B-4D7F-8525-FFBA27AADCB3}" presName="compNode" presStyleCnt="0"/>
      <dgm:spPr/>
    </dgm:pt>
    <dgm:pt modelId="{FD87C7A0-1556-4A67-8832-569EC99D5F07}" type="pres">
      <dgm:prSet presAssocID="{2D17E741-B70B-4D7F-8525-FFBA27AADCB3}" presName="iconBgRect" presStyleLbl="bgShp" presStyleIdx="1" presStyleCnt="2"/>
      <dgm:spPr/>
    </dgm:pt>
    <dgm:pt modelId="{433D4BE1-158A-4066-B117-9D6D9832D2C1}" type="pres">
      <dgm:prSet presAssocID="{2D17E741-B70B-4D7F-8525-FFBA27AADCB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grammer"/>
        </a:ext>
      </dgm:extLst>
    </dgm:pt>
    <dgm:pt modelId="{7F197BBF-A3A0-4AAE-9947-9F72BB05D41A}" type="pres">
      <dgm:prSet presAssocID="{2D17E741-B70B-4D7F-8525-FFBA27AADCB3}" presName="spaceRect" presStyleCnt="0"/>
      <dgm:spPr/>
    </dgm:pt>
    <dgm:pt modelId="{92922EEB-1497-4085-B005-0F3AA1217F30}" type="pres">
      <dgm:prSet presAssocID="{2D17E741-B70B-4D7F-8525-FFBA27AADCB3}" presName="textRect" presStyleLbl="revTx" presStyleIdx="1" presStyleCnt="2">
        <dgm:presLayoutVars>
          <dgm:chMax val="1"/>
          <dgm:chPref val="1"/>
        </dgm:presLayoutVars>
      </dgm:prSet>
      <dgm:spPr/>
    </dgm:pt>
  </dgm:ptLst>
  <dgm:cxnLst>
    <dgm:cxn modelId="{3A686D11-ADCE-4928-833E-D6E073A00B0E}" srcId="{F40A7B04-F4A1-4A3A-ACFD-CF59BDC861A9}" destId="{8542A5D6-B65B-467C-80D5-409D42FF10C4}" srcOrd="0" destOrd="0" parTransId="{5997843D-1352-464C-B71E-F2FFB3E64C8F}" sibTransId="{2239FE29-CE6E-4E06-96CD-ECE178261E45}"/>
    <dgm:cxn modelId="{99C33173-354E-4FB4-96DD-987C66391F7C}" srcId="{F40A7B04-F4A1-4A3A-ACFD-CF59BDC861A9}" destId="{2D17E741-B70B-4D7F-8525-FFBA27AADCB3}" srcOrd="1" destOrd="0" parTransId="{7A13B0C7-E76C-486C-8450-7438EC1F1757}" sibTransId="{CABAF06C-9B2B-4F7E-B4CF-FD584A44053A}"/>
    <dgm:cxn modelId="{D841EA8E-89E2-4030-A1C7-356D47E7A5A5}" type="presOf" srcId="{F40A7B04-F4A1-4A3A-ACFD-CF59BDC861A9}" destId="{FE75FCAB-2768-4177-914B-2AD6E022207F}" srcOrd="0" destOrd="0" presId="urn:microsoft.com/office/officeart/2018/5/layout/IconCircleLabelList"/>
    <dgm:cxn modelId="{ACA887B3-8329-4C6A-9535-046DB3BB5EDE}" type="presOf" srcId="{2D17E741-B70B-4D7F-8525-FFBA27AADCB3}" destId="{92922EEB-1497-4085-B005-0F3AA1217F30}" srcOrd="0" destOrd="0" presId="urn:microsoft.com/office/officeart/2018/5/layout/IconCircleLabelList"/>
    <dgm:cxn modelId="{3AAE96DB-A132-42B9-95E2-79AF1B9A8A77}" type="presOf" srcId="{8542A5D6-B65B-467C-80D5-409D42FF10C4}" destId="{936E64E6-4056-4668-BC59-6569A1F0F92C}" srcOrd="0" destOrd="0" presId="urn:microsoft.com/office/officeart/2018/5/layout/IconCircleLabelList"/>
    <dgm:cxn modelId="{6666C630-4D08-4A23-AA5F-B86C8E1979CF}" type="presParOf" srcId="{FE75FCAB-2768-4177-914B-2AD6E022207F}" destId="{0EFAEC13-7B06-478D-B3F0-5A4AB0D0DE41}" srcOrd="0" destOrd="0" presId="urn:microsoft.com/office/officeart/2018/5/layout/IconCircleLabelList"/>
    <dgm:cxn modelId="{5FF98010-8A93-4E2B-B163-1271E68F5A02}" type="presParOf" srcId="{0EFAEC13-7B06-478D-B3F0-5A4AB0D0DE41}" destId="{EE4FB902-BD02-415A-9928-92D4573956DE}" srcOrd="0" destOrd="0" presId="urn:microsoft.com/office/officeart/2018/5/layout/IconCircleLabelList"/>
    <dgm:cxn modelId="{3567B462-A5D5-4231-9E3D-D4709DAED4B3}" type="presParOf" srcId="{0EFAEC13-7B06-478D-B3F0-5A4AB0D0DE41}" destId="{35416943-B5CF-4D97-AAF3-54FC50DB854A}" srcOrd="1" destOrd="0" presId="urn:microsoft.com/office/officeart/2018/5/layout/IconCircleLabelList"/>
    <dgm:cxn modelId="{55A1413C-89A3-4838-AF69-EFABFFDF0AB1}" type="presParOf" srcId="{0EFAEC13-7B06-478D-B3F0-5A4AB0D0DE41}" destId="{9C4F18E4-9D17-4610-A6E6-CA289316805F}" srcOrd="2" destOrd="0" presId="urn:microsoft.com/office/officeart/2018/5/layout/IconCircleLabelList"/>
    <dgm:cxn modelId="{43617B35-D68D-4813-9424-9C6ABABBAB69}" type="presParOf" srcId="{0EFAEC13-7B06-478D-B3F0-5A4AB0D0DE41}" destId="{936E64E6-4056-4668-BC59-6569A1F0F92C}" srcOrd="3" destOrd="0" presId="urn:microsoft.com/office/officeart/2018/5/layout/IconCircleLabelList"/>
    <dgm:cxn modelId="{84911B45-62C1-4046-863F-460C222C7C22}" type="presParOf" srcId="{FE75FCAB-2768-4177-914B-2AD6E022207F}" destId="{EFFFD17B-21E7-4304-A7D1-FAE2BCC2CBAE}" srcOrd="1" destOrd="0" presId="urn:microsoft.com/office/officeart/2018/5/layout/IconCircleLabelList"/>
    <dgm:cxn modelId="{AC3DD37F-9B2C-43D5-B6CF-90CD8EC477BA}" type="presParOf" srcId="{FE75FCAB-2768-4177-914B-2AD6E022207F}" destId="{E4E2ABBB-2D36-494F-A1E5-C76A82A385EF}" srcOrd="2" destOrd="0" presId="urn:microsoft.com/office/officeart/2018/5/layout/IconCircleLabelList"/>
    <dgm:cxn modelId="{BD747CC9-14C8-42A0-85AF-A6A4686AC47C}" type="presParOf" srcId="{E4E2ABBB-2D36-494F-A1E5-C76A82A385EF}" destId="{FD87C7A0-1556-4A67-8832-569EC99D5F07}" srcOrd="0" destOrd="0" presId="urn:microsoft.com/office/officeart/2018/5/layout/IconCircleLabelList"/>
    <dgm:cxn modelId="{BE0946BF-3F1F-4A29-BF39-E4B8A56B69CB}" type="presParOf" srcId="{E4E2ABBB-2D36-494F-A1E5-C76A82A385EF}" destId="{433D4BE1-158A-4066-B117-9D6D9832D2C1}" srcOrd="1" destOrd="0" presId="urn:microsoft.com/office/officeart/2018/5/layout/IconCircleLabelList"/>
    <dgm:cxn modelId="{27F85E9E-7AE2-4D2A-90DF-B9D7E8D6DBC8}" type="presParOf" srcId="{E4E2ABBB-2D36-494F-A1E5-C76A82A385EF}" destId="{7F197BBF-A3A0-4AAE-9947-9F72BB05D41A}" srcOrd="2" destOrd="0" presId="urn:microsoft.com/office/officeart/2018/5/layout/IconCircleLabelList"/>
    <dgm:cxn modelId="{60E52B0B-1959-4A14-92B7-9240F297B1B5}" type="presParOf" srcId="{E4E2ABBB-2D36-494F-A1E5-C76A82A385EF}" destId="{92922EEB-1497-4085-B005-0F3AA1217F30}" srcOrd="3" destOrd="0" presId="urn:microsoft.com/office/officeart/2018/5/layout/IconCircleLabel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E290205-5238-40BE-9FE1-551C2D057083}"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24B21F76-15C9-43F9-936A-B584B381A5C0}">
      <dgm:prSet/>
      <dgm:spPr/>
      <dgm:t>
        <a:bodyPr/>
        <a:lstStyle/>
        <a:p>
          <a:r>
            <a:rPr lang="en-US"/>
            <a:t>*Albania's cybersecurity metrics show a mixed picture compared to the European average.</a:t>
          </a:r>
        </a:p>
      </dgm:t>
    </dgm:pt>
    <dgm:pt modelId="{047D7851-D1AB-4BEB-845D-173766F0299B}" type="parTrans" cxnId="{0F749326-A653-4EA2-A1BA-6D5C2AF4A300}">
      <dgm:prSet/>
      <dgm:spPr/>
      <dgm:t>
        <a:bodyPr/>
        <a:lstStyle/>
        <a:p>
          <a:endParaRPr lang="en-US"/>
        </a:p>
      </dgm:t>
    </dgm:pt>
    <dgm:pt modelId="{5E63E0E8-89B4-4AB5-9F78-05ED8E94D172}" type="sibTrans" cxnId="{0F749326-A653-4EA2-A1BA-6D5C2AF4A300}">
      <dgm:prSet/>
      <dgm:spPr/>
      <dgm:t>
        <a:bodyPr/>
        <a:lstStyle/>
        <a:p>
          <a:endParaRPr lang="en-US"/>
        </a:p>
      </dgm:t>
    </dgm:pt>
    <dgm:pt modelId="{AD7E8BB5-E06B-4591-9AC9-F3C848F431AB}">
      <dgm:prSet/>
      <dgm:spPr/>
      <dgm:t>
        <a:bodyPr/>
        <a:lstStyle/>
        <a:p>
          <a:r>
            <a:rPr lang="en-US"/>
            <a:t>While Albania has a significantly higher Cybersecurity Exposure Index (CEI) of 0.566 versus Europe's 0.280625, indicating greater cybersecurity risk, its Global Cybersecurity Index (GCI) and National Cyber Security Index (NCSI) scores are lower than the European averages. </a:t>
          </a:r>
        </a:p>
      </dgm:t>
    </dgm:pt>
    <dgm:pt modelId="{07447BCB-29AB-4C43-B50B-21EE28055216}" type="parTrans" cxnId="{57B6C5DF-7F51-4C18-9CF7-4C8F33675A54}">
      <dgm:prSet/>
      <dgm:spPr/>
      <dgm:t>
        <a:bodyPr/>
        <a:lstStyle/>
        <a:p>
          <a:endParaRPr lang="en-US"/>
        </a:p>
      </dgm:t>
    </dgm:pt>
    <dgm:pt modelId="{4E96F310-4400-42D5-B2C9-0F6CD4330B0E}" type="sibTrans" cxnId="{57B6C5DF-7F51-4C18-9CF7-4C8F33675A54}">
      <dgm:prSet/>
      <dgm:spPr/>
      <dgm:t>
        <a:bodyPr/>
        <a:lstStyle/>
        <a:p>
          <a:endParaRPr lang="en-US"/>
        </a:p>
      </dgm:t>
    </dgm:pt>
    <dgm:pt modelId="{C61ECF35-0D41-40E5-ADCF-E36969E7A592}">
      <dgm:prSet/>
      <dgm:spPr/>
      <dgm:t>
        <a:bodyPr/>
        <a:lstStyle/>
        <a:p>
          <a:r>
            <a:rPr lang="en-US"/>
            <a:t>*This suggests that although Albania faces higher cybersecurity threats, its preparedness and implementation of cybersecurity measures lag behind the regional standard.</a:t>
          </a:r>
        </a:p>
      </dgm:t>
    </dgm:pt>
    <dgm:pt modelId="{8C023D73-4C65-4A09-AAEA-779B00E9EC3E}" type="parTrans" cxnId="{42A67C65-1DC9-4912-A78F-4DAC51B7A7B0}">
      <dgm:prSet/>
      <dgm:spPr/>
      <dgm:t>
        <a:bodyPr/>
        <a:lstStyle/>
        <a:p>
          <a:endParaRPr lang="en-US"/>
        </a:p>
      </dgm:t>
    </dgm:pt>
    <dgm:pt modelId="{9A32E557-9BE9-46B1-A31F-F618053FF9D3}" type="sibTrans" cxnId="{42A67C65-1DC9-4912-A78F-4DAC51B7A7B0}">
      <dgm:prSet/>
      <dgm:spPr/>
      <dgm:t>
        <a:bodyPr/>
        <a:lstStyle/>
        <a:p>
          <a:endParaRPr lang="en-US"/>
        </a:p>
      </dgm:t>
    </dgm:pt>
    <dgm:pt modelId="{C2353C15-A930-4090-9265-128B36E36478}" type="pres">
      <dgm:prSet presAssocID="{8E290205-5238-40BE-9FE1-551C2D057083}" presName="hierChild1" presStyleCnt="0">
        <dgm:presLayoutVars>
          <dgm:chPref val="1"/>
          <dgm:dir/>
          <dgm:animOne val="branch"/>
          <dgm:animLvl val="lvl"/>
          <dgm:resizeHandles/>
        </dgm:presLayoutVars>
      </dgm:prSet>
      <dgm:spPr/>
    </dgm:pt>
    <dgm:pt modelId="{37C0DBFC-2744-4919-A90C-7562938E77A2}" type="pres">
      <dgm:prSet presAssocID="{24B21F76-15C9-43F9-936A-B584B381A5C0}" presName="hierRoot1" presStyleCnt="0"/>
      <dgm:spPr/>
    </dgm:pt>
    <dgm:pt modelId="{AD1725AC-3078-446C-901C-32BB5C21014E}" type="pres">
      <dgm:prSet presAssocID="{24B21F76-15C9-43F9-936A-B584B381A5C0}" presName="composite" presStyleCnt="0"/>
      <dgm:spPr/>
    </dgm:pt>
    <dgm:pt modelId="{9FA6EC4A-ED31-4599-8FD1-15CE347104BD}" type="pres">
      <dgm:prSet presAssocID="{24B21F76-15C9-43F9-936A-B584B381A5C0}" presName="background" presStyleLbl="node0" presStyleIdx="0" presStyleCnt="1"/>
      <dgm:spPr/>
    </dgm:pt>
    <dgm:pt modelId="{02334D8E-653B-4B2C-81BF-30C9EA7F09E1}" type="pres">
      <dgm:prSet presAssocID="{24B21F76-15C9-43F9-936A-B584B381A5C0}" presName="text" presStyleLbl="fgAcc0" presStyleIdx="0" presStyleCnt="1">
        <dgm:presLayoutVars>
          <dgm:chPref val="3"/>
        </dgm:presLayoutVars>
      </dgm:prSet>
      <dgm:spPr/>
    </dgm:pt>
    <dgm:pt modelId="{2F8FB05F-3D58-435E-A45B-05BF66E1FCFE}" type="pres">
      <dgm:prSet presAssocID="{24B21F76-15C9-43F9-936A-B584B381A5C0}" presName="hierChild2" presStyleCnt="0"/>
      <dgm:spPr/>
    </dgm:pt>
    <dgm:pt modelId="{2DD36266-AC53-40A5-82F4-15DE3B3CE4AF}" type="pres">
      <dgm:prSet presAssocID="{07447BCB-29AB-4C43-B50B-21EE28055216}" presName="Name10" presStyleLbl="parChTrans1D2" presStyleIdx="0" presStyleCnt="2"/>
      <dgm:spPr/>
    </dgm:pt>
    <dgm:pt modelId="{C99F3D94-61B1-4816-AECE-5CB42132D92E}" type="pres">
      <dgm:prSet presAssocID="{AD7E8BB5-E06B-4591-9AC9-F3C848F431AB}" presName="hierRoot2" presStyleCnt="0"/>
      <dgm:spPr/>
    </dgm:pt>
    <dgm:pt modelId="{DA25A64B-A2DB-4CDF-B3EF-FC5A1ABFD909}" type="pres">
      <dgm:prSet presAssocID="{AD7E8BB5-E06B-4591-9AC9-F3C848F431AB}" presName="composite2" presStyleCnt="0"/>
      <dgm:spPr/>
    </dgm:pt>
    <dgm:pt modelId="{531093AD-530F-4762-A7A8-11F0B92B27D8}" type="pres">
      <dgm:prSet presAssocID="{AD7E8BB5-E06B-4591-9AC9-F3C848F431AB}" presName="background2" presStyleLbl="node2" presStyleIdx="0" presStyleCnt="2"/>
      <dgm:spPr/>
    </dgm:pt>
    <dgm:pt modelId="{5BF911BD-EDED-4F1A-9A2F-6E3E8539DF01}" type="pres">
      <dgm:prSet presAssocID="{AD7E8BB5-E06B-4591-9AC9-F3C848F431AB}" presName="text2" presStyleLbl="fgAcc2" presStyleIdx="0" presStyleCnt="2">
        <dgm:presLayoutVars>
          <dgm:chPref val="3"/>
        </dgm:presLayoutVars>
      </dgm:prSet>
      <dgm:spPr/>
    </dgm:pt>
    <dgm:pt modelId="{94E8DEC4-5061-44D0-BBD8-28453194C336}" type="pres">
      <dgm:prSet presAssocID="{AD7E8BB5-E06B-4591-9AC9-F3C848F431AB}" presName="hierChild3" presStyleCnt="0"/>
      <dgm:spPr/>
    </dgm:pt>
    <dgm:pt modelId="{511A8F32-EBB4-47BE-9729-40A00404318F}" type="pres">
      <dgm:prSet presAssocID="{8C023D73-4C65-4A09-AAEA-779B00E9EC3E}" presName="Name10" presStyleLbl="parChTrans1D2" presStyleIdx="1" presStyleCnt="2"/>
      <dgm:spPr/>
    </dgm:pt>
    <dgm:pt modelId="{1CE62751-EFF9-4156-85E9-7CD99E042390}" type="pres">
      <dgm:prSet presAssocID="{C61ECF35-0D41-40E5-ADCF-E36969E7A592}" presName="hierRoot2" presStyleCnt="0"/>
      <dgm:spPr/>
    </dgm:pt>
    <dgm:pt modelId="{D764B00E-4874-43F4-BC2E-A72160AC6E70}" type="pres">
      <dgm:prSet presAssocID="{C61ECF35-0D41-40E5-ADCF-E36969E7A592}" presName="composite2" presStyleCnt="0"/>
      <dgm:spPr/>
    </dgm:pt>
    <dgm:pt modelId="{94E0C976-3892-49A6-91A1-110261B2D34A}" type="pres">
      <dgm:prSet presAssocID="{C61ECF35-0D41-40E5-ADCF-E36969E7A592}" presName="background2" presStyleLbl="node2" presStyleIdx="1" presStyleCnt="2"/>
      <dgm:spPr/>
    </dgm:pt>
    <dgm:pt modelId="{4297F977-D32B-4FB0-A639-EAA7709738C1}" type="pres">
      <dgm:prSet presAssocID="{C61ECF35-0D41-40E5-ADCF-E36969E7A592}" presName="text2" presStyleLbl="fgAcc2" presStyleIdx="1" presStyleCnt="2">
        <dgm:presLayoutVars>
          <dgm:chPref val="3"/>
        </dgm:presLayoutVars>
      </dgm:prSet>
      <dgm:spPr/>
    </dgm:pt>
    <dgm:pt modelId="{0D2F3A16-B5A1-4DE7-9332-ECE792C66865}" type="pres">
      <dgm:prSet presAssocID="{C61ECF35-0D41-40E5-ADCF-E36969E7A592}" presName="hierChild3" presStyleCnt="0"/>
      <dgm:spPr/>
    </dgm:pt>
  </dgm:ptLst>
  <dgm:cxnLst>
    <dgm:cxn modelId="{3A1B1614-D569-4C6F-B859-A66A659902FA}" type="presOf" srcId="{C61ECF35-0D41-40E5-ADCF-E36969E7A592}" destId="{4297F977-D32B-4FB0-A639-EAA7709738C1}" srcOrd="0" destOrd="0" presId="urn:microsoft.com/office/officeart/2005/8/layout/hierarchy1"/>
    <dgm:cxn modelId="{DD7C7918-0D39-4FF4-BFB4-A3C755224AE2}" type="presOf" srcId="{07447BCB-29AB-4C43-B50B-21EE28055216}" destId="{2DD36266-AC53-40A5-82F4-15DE3B3CE4AF}" srcOrd="0" destOrd="0" presId="urn:microsoft.com/office/officeart/2005/8/layout/hierarchy1"/>
    <dgm:cxn modelId="{D5BB5D23-DF2A-4BF9-89F2-9160BA0D3D9B}" type="presOf" srcId="{AD7E8BB5-E06B-4591-9AC9-F3C848F431AB}" destId="{5BF911BD-EDED-4F1A-9A2F-6E3E8539DF01}" srcOrd="0" destOrd="0" presId="urn:microsoft.com/office/officeart/2005/8/layout/hierarchy1"/>
    <dgm:cxn modelId="{0F749326-A653-4EA2-A1BA-6D5C2AF4A300}" srcId="{8E290205-5238-40BE-9FE1-551C2D057083}" destId="{24B21F76-15C9-43F9-936A-B584B381A5C0}" srcOrd="0" destOrd="0" parTransId="{047D7851-D1AB-4BEB-845D-173766F0299B}" sibTransId="{5E63E0E8-89B4-4AB5-9F78-05ED8E94D172}"/>
    <dgm:cxn modelId="{B6F3FE30-1D4C-4C70-9C39-4A77317AB757}" type="presOf" srcId="{8E290205-5238-40BE-9FE1-551C2D057083}" destId="{C2353C15-A930-4090-9265-128B36E36478}" srcOrd="0" destOrd="0" presId="urn:microsoft.com/office/officeart/2005/8/layout/hierarchy1"/>
    <dgm:cxn modelId="{42A67C65-1DC9-4912-A78F-4DAC51B7A7B0}" srcId="{24B21F76-15C9-43F9-936A-B584B381A5C0}" destId="{C61ECF35-0D41-40E5-ADCF-E36969E7A592}" srcOrd="1" destOrd="0" parTransId="{8C023D73-4C65-4A09-AAEA-779B00E9EC3E}" sibTransId="{9A32E557-9BE9-46B1-A31F-F618053FF9D3}"/>
    <dgm:cxn modelId="{5EA5C0C1-2628-4376-ACBE-70A880210A62}" type="presOf" srcId="{8C023D73-4C65-4A09-AAEA-779B00E9EC3E}" destId="{511A8F32-EBB4-47BE-9729-40A00404318F}" srcOrd="0" destOrd="0" presId="urn:microsoft.com/office/officeart/2005/8/layout/hierarchy1"/>
    <dgm:cxn modelId="{9F42C3D9-F9C9-449E-A47C-E0340B74F445}" type="presOf" srcId="{24B21F76-15C9-43F9-936A-B584B381A5C0}" destId="{02334D8E-653B-4B2C-81BF-30C9EA7F09E1}" srcOrd="0" destOrd="0" presId="urn:microsoft.com/office/officeart/2005/8/layout/hierarchy1"/>
    <dgm:cxn modelId="{57B6C5DF-7F51-4C18-9CF7-4C8F33675A54}" srcId="{24B21F76-15C9-43F9-936A-B584B381A5C0}" destId="{AD7E8BB5-E06B-4591-9AC9-F3C848F431AB}" srcOrd="0" destOrd="0" parTransId="{07447BCB-29AB-4C43-B50B-21EE28055216}" sibTransId="{4E96F310-4400-42D5-B2C9-0F6CD4330B0E}"/>
    <dgm:cxn modelId="{F60A0987-AEAB-4FB8-8957-03A46D9F78A7}" type="presParOf" srcId="{C2353C15-A930-4090-9265-128B36E36478}" destId="{37C0DBFC-2744-4919-A90C-7562938E77A2}" srcOrd="0" destOrd="0" presId="urn:microsoft.com/office/officeart/2005/8/layout/hierarchy1"/>
    <dgm:cxn modelId="{04EF3FA8-A22A-44BF-A476-4ADEB5AB8CDE}" type="presParOf" srcId="{37C0DBFC-2744-4919-A90C-7562938E77A2}" destId="{AD1725AC-3078-446C-901C-32BB5C21014E}" srcOrd="0" destOrd="0" presId="urn:microsoft.com/office/officeart/2005/8/layout/hierarchy1"/>
    <dgm:cxn modelId="{E8048143-1FD7-4429-BF81-80CACBFCC014}" type="presParOf" srcId="{AD1725AC-3078-446C-901C-32BB5C21014E}" destId="{9FA6EC4A-ED31-4599-8FD1-15CE347104BD}" srcOrd="0" destOrd="0" presId="urn:microsoft.com/office/officeart/2005/8/layout/hierarchy1"/>
    <dgm:cxn modelId="{C7FB9C36-84F7-4188-B08F-E3E23E116D3F}" type="presParOf" srcId="{AD1725AC-3078-446C-901C-32BB5C21014E}" destId="{02334D8E-653B-4B2C-81BF-30C9EA7F09E1}" srcOrd="1" destOrd="0" presId="urn:microsoft.com/office/officeart/2005/8/layout/hierarchy1"/>
    <dgm:cxn modelId="{FD928F0E-7551-405F-92D6-6083BE0F62BC}" type="presParOf" srcId="{37C0DBFC-2744-4919-A90C-7562938E77A2}" destId="{2F8FB05F-3D58-435E-A45B-05BF66E1FCFE}" srcOrd="1" destOrd="0" presId="urn:microsoft.com/office/officeart/2005/8/layout/hierarchy1"/>
    <dgm:cxn modelId="{3735299D-84BE-4E9B-985D-33CF3B06C63F}" type="presParOf" srcId="{2F8FB05F-3D58-435E-A45B-05BF66E1FCFE}" destId="{2DD36266-AC53-40A5-82F4-15DE3B3CE4AF}" srcOrd="0" destOrd="0" presId="urn:microsoft.com/office/officeart/2005/8/layout/hierarchy1"/>
    <dgm:cxn modelId="{EC2BB507-A99D-4CCD-8137-D3F54F1D297F}" type="presParOf" srcId="{2F8FB05F-3D58-435E-A45B-05BF66E1FCFE}" destId="{C99F3D94-61B1-4816-AECE-5CB42132D92E}" srcOrd="1" destOrd="0" presId="urn:microsoft.com/office/officeart/2005/8/layout/hierarchy1"/>
    <dgm:cxn modelId="{64139203-6851-4E0A-B202-B160AF6C1BDD}" type="presParOf" srcId="{C99F3D94-61B1-4816-AECE-5CB42132D92E}" destId="{DA25A64B-A2DB-4CDF-B3EF-FC5A1ABFD909}" srcOrd="0" destOrd="0" presId="urn:microsoft.com/office/officeart/2005/8/layout/hierarchy1"/>
    <dgm:cxn modelId="{B8B2AF3A-9335-40A2-A1F9-609BAAF2605D}" type="presParOf" srcId="{DA25A64B-A2DB-4CDF-B3EF-FC5A1ABFD909}" destId="{531093AD-530F-4762-A7A8-11F0B92B27D8}" srcOrd="0" destOrd="0" presId="urn:microsoft.com/office/officeart/2005/8/layout/hierarchy1"/>
    <dgm:cxn modelId="{AFA9B0C7-65C3-4E9B-8732-6C3875964465}" type="presParOf" srcId="{DA25A64B-A2DB-4CDF-B3EF-FC5A1ABFD909}" destId="{5BF911BD-EDED-4F1A-9A2F-6E3E8539DF01}" srcOrd="1" destOrd="0" presId="urn:microsoft.com/office/officeart/2005/8/layout/hierarchy1"/>
    <dgm:cxn modelId="{B14B2738-6C04-42C3-A405-967A902B5777}" type="presParOf" srcId="{C99F3D94-61B1-4816-AECE-5CB42132D92E}" destId="{94E8DEC4-5061-44D0-BBD8-28453194C336}" srcOrd="1" destOrd="0" presId="urn:microsoft.com/office/officeart/2005/8/layout/hierarchy1"/>
    <dgm:cxn modelId="{FAAFFA81-D4B8-4B23-816D-D99420EAE3AB}" type="presParOf" srcId="{2F8FB05F-3D58-435E-A45B-05BF66E1FCFE}" destId="{511A8F32-EBB4-47BE-9729-40A00404318F}" srcOrd="2" destOrd="0" presId="urn:microsoft.com/office/officeart/2005/8/layout/hierarchy1"/>
    <dgm:cxn modelId="{48FE6437-E5FA-44E0-9F47-B1C6425F14EC}" type="presParOf" srcId="{2F8FB05F-3D58-435E-A45B-05BF66E1FCFE}" destId="{1CE62751-EFF9-4156-85E9-7CD99E042390}" srcOrd="3" destOrd="0" presId="urn:microsoft.com/office/officeart/2005/8/layout/hierarchy1"/>
    <dgm:cxn modelId="{1EB76166-F85A-42C8-B2CC-AE052EFD2B05}" type="presParOf" srcId="{1CE62751-EFF9-4156-85E9-7CD99E042390}" destId="{D764B00E-4874-43F4-BC2E-A72160AC6E70}" srcOrd="0" destOrd="0" presId="urn:microsoft.com/office/officeart/2005/8/layout/hierarchy1"/>
    <dgm:cxn modelId="{4688CF99-1299-4149-AE4E-03C896EE1319}" type="presParOf" srcId="{D764B00E-4874-43F4-BC2E-A72160AC6E70}" destId="{94E0C976-3892-49A6-91A1-110261B2D34A}" srcOrd="0" destOrd="0" presId="urn:microsoft.com/office/officeart/2005/8/layout/hierarchy1"/>
    <dgm:cxn modelId="{2042ABCE-262D-47D9-90B8-3E5841FD7FB8}" type="presParOf" srcId="{D764B00E-4874-43F4-BC2E-A72160AC6E70}" destId="{4297F977-D32B-4FB0-A639-EAA7709738C1}" srcOrd="1" destOrd="0" presId="urn:microsoft.com/office/officeart/2005/8/layout/hierarchy1"/>
    <dgm:cxn modelId="{C5B4E381-88ED-4943-B6CB-F167FDD657A6}" type="presParOf" srcId="{1CE62751-EFF9-4156-85E9-7CD99E042390}" destId="{0D2F3A16-B5A1-4DE7-9332-ECE792C66865}"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14FB97-FCE2-4C90-955C-69231F1E2DF0}">
      <dsp:nvSpPr>
        <dsp:cNvPr id="0" name=""/>
        <dsp:cNvSpPr/>
      </dsp:nvSpPr>
      <dsp:spPr>
        <a:xfrm>
          <a:off x="1533757" y="13892"/>
          <a:ext cx="2093062" cy="20930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6EF4CE-A4B0-4B6A-BC4A-55EC1403DE71}">
      <dsp:nvSpPr>
        <dsp:cNvPr id="0" name=""/>
        <dsp:cNvSpPr/>
      </dsp:nvSpPr>
      <dsp:spPr>
        <a:xfrm>
          <a:off x="1979820" y="459954"/>
          <a:ext cx="1200937" cy="12009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B70A08-907C-4930-BD28-406B9C26309B}">
      <dsp:nvSpPr>
        <dsp:cNvPr id="0" name=""/>
        <dsp:cNvSpPr/>
      </dsp:nvSpPr>
      <dsp:spPr>
        <a:xfrm>
          <a:off x="864664" y="2758892"/>
          <a:ext cx="343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IN" sz="2300" kern="1200"/>
            <a:t>QUESTIONS ABOUT DATASET.</a:t>
          </a:r>
          <a:endParaRPr lang="en-US" sz="2300" kern="1200"/>
        </a:p>
      </dsp:txBody>
      <dsp:txXfrm>
        <a:off x="864664" y="2758892"/>
        <a:ext cx="3431250" cy="720000"/>
      </dsp:txXfrm>
    </dsp:sp>
    <dsp:sp modelId="{7D7636C2-005E-445A-8D65-55EF5441645C}">
      <dsp:nvSpPr>
        <dsp:cNvPr id="0" name=""/>
        <dsp:cNvSpPr/>
      </dsp:nvSpPr>
      <dsp:spPr>
        <a:xfrm>
          <a:off x="5565476" y="13892"/>
          <a:ext cx="2093062" cy="20930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400577-D83D-46B9-BD44-4ADB2F5859EE}">
      <dsp:nvSpPr>
        <dsp:cNvPr id="0" name=""/>
        <dsp:cNvSpPr/>
      </dsp:nvSpPr>
      <dsp:spPr>
        <a:xfrm>
          <a:off x="6011539" y="459954"/>
          <a:ext cx="1200937" cy="12009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9DA077-600E-457E-8B8C-B3FB438EF865}">
      <dsp:nvSpPr>
        <dsp:cNvPr id="0" name=""/>
        <dsp:cNvSpPr/>
      </dsp:nvSpPr>
      <dsp:spPr>
        <a:xfrm>
          <a:off x="4896382" y="2758892"/>
          <a:ext cx="343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IN" sz="2300" kern="1200"/>
            <a:t>ANALYSIS QUESTIONS</a:t>
          </a:r>
          <a:endParaRPr lang="en-US" sz="2300" kern="1200"/>
        </a:p>
      </dsp:txBody>
      <dsp:txXfrm>
        <a:off x="4896382" y="2758892"/>
        <a:ext cx="3431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FB902-BD02-415A-9928-92D4573956DE}">
      <dsp:nvSpPr>
        <dsp:cNvPr id="0" name=""/>
        <dsp:cNvSpPr/>
      </dsp:nvSpPr>
      <dsp:spPr>
        <a:xfrm>
          <a:off x="523206" y="1123"/>
          <a:ext cx="1091566" cy="109156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416943-B5CF-4D97-AAF3-54FC50DB854A}">
      <dsp:nvSpPr>
        <dsp:cNvPr id="0" name=""/>
        <dsp:cNvSpPr/>
      </dsp:nvSpPr>
      <dsp:spPr>
        <a:xfrm>
          <a:off x="755834" y="233752"/>
          <a:ext cx="626308" cy="6263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6E64E6-4056-4668-BC59-6569A1F0F92C}">
      <dsp:nvSpPr>
        <dsp:cNvPr id="0" name=""/>
        <dsp:cNvSpPr/>
      </dsp:nvSpPr>
      <dsp:spPr>
        <a:xfrm>
          <a:off x="174262" y="1432686"/>
          <a:ext cx="1789453" cy="2536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*Afghanistan stands out as having the highest Cybersecurity Exposure Index (CEI) score of 1.00 in the Asia-Pacific region, significantly above the regional median of around 0.3.</a:t>
          </a:r>
        </a:p>
      </dsp:txBody>
      <dsp:txXfrm>
        <a:off x="174262" y="1432686"/>
        <a:ext cx="1789453" cy="2536508"/>
      </dsp:txXfrm>
    </dsp:sp>
    <dsp:sp modelId="{FD87C7A0-1556-4A67-8832-569EC99D5F07}">
      <dsp:nvSpPr>
        <dsp:cNvPr id="0" name=""/>
        <dsp:cNvSpPr/>
      </dsp:nvSpPr>
      <dsp:spPr>
        <a:xfrm>
          <a:off x="2625813" y="1123"/>
          <a:ext cx="1091566" cy="109156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3D4BE1-158A-4066-B117-9D6D9832D2C1}">
      <dsp:nvSpPr>
        <dsp:cNvPr id="0" name=""/>
        <dsp:cNvSpPr/>
      </dsp:nvSpPr>
      <dsp:spPr>
        <a:xfrm>
          <a:off x="2858442" y="233752"/>
          <a:ext cx="626308" cy="6263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922EEB-1497-4085-B005-0F3AA1217F30}">
      <dsp:nvSpPr>
        <dsp:cNvPr id="0" name=""/>
        <dsp:cNvSpPr/>
      </dsp:nvSpPr>
      <dsp:spPr>
        <a:xfrm>
          <a:off x="2276870" y="1432686"/>
          <a:ext cx="1789453" cy="2536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 However, its low Global Cybersecurity Index (GCI) of 5.20 and National Cyber Security Index (NCSI) of 11.69 suggest that despite facing the highest cybersecurity risks, Afghanistan may have limited measures in place to address these challenges compared to its regional counterparts</a:t>
          </a:r>
        </a:p>
      </dsp:txBody>
      <dsp:txXfrm>
        <a:off x="2276870" y="1432686"/>
        <a:ext cx="1789453" cy="25365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A8F32-EBB4-47BE-9729-40A00404318F}">
      <dsp:nvSpPr>
        <dsp:cNvPr id="0" name=""/>
        <dsp:cNvSpPr/>
      </dsp:nvSpPr>
      <dsp:spPr>
        <a:xfrm>
          <a:off x="2488688" y="1932623"/>
          <a:ext cx="1368428" cy="651247"/>
        </a:xfrm>
        <a:custGeom>
          <a:avLst/>
          <a:gdLst/>
          <a:ahLst/>
          <a:cxnLst/>
          <a:rect l="0" t="0" r="0" b="0"/>
          <a:pathLst>
            <a:path>
              <a:moveTo>
                <a:pt x="0" y="0"/>
              </a:moveTo>
              <a:lnTo>
                <a:pt x="0" y="443806"/>
              </a:lnTo>
              <a:lnTo>
                <a:pt x="1368428" y="443806"/>
              </a:lnTo>
              <a:lnTo>
                <a:pt x="1368428" y="6512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D36266-AC53-40A5-82F4-15DE3B3CE4AF}">
      <dsp:nvSpPr>
        <dsp:cNvPr id="0" name=""/>
        <dsp:cNvSpPr/>
      </dsp:nvSpPr>
      <dsp:spPr>
        <a:xfrm>
          <a:off x="1120260" y="1932623"/>
          <a:ext cx="1368428" cy="651247"/>
        </a:xfrm>
        <a:custGeom>
          <a:avLst/>
          <a:gdLst/>
          <a:ahLst/>
          <a:cxnLst/>
          <a:rect l="0" t="0" r="0" b="0"/>
          <a:pathLst>
            <a:path>
              <a:moveTo>
                <a:pt x="1368428" y="0"/>
              </a:moveTo>
              <a:lnTo>
                <a:pt x="1368428" y="443806"/>
              </a:lnTo>
              <a:lnTo>
                <a:pt x="0" y="443806"/>
              </a:lnTo>
              <a:lnTo>
                <a:pt x="0" y="6512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FA6EC4A-ED31-4599-8FD1-15CE347104BD}">
      <dsp:nvSpPr>
        <dsp:cNvPr id="0" name=""/>
        <dsp:cNvSpPr/>
      </dsp:nvSpPr>
      <dsp:spPr>
        <a:xfrm>
          <a:off x="1369066" y="510702"/>
          <a:ext cx="2239245" cy="14219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34D8E-653B-4B2C-81BF-30C9EA7F09E1}">
      <dsp:nvSpPr>
        <dsp:cNvPr id="0" name=""/>
        <dsp:cNvSpPr/>
      </dsp:nvSpPr>
      <dsp:spPr>
        <a:xfrm>
          <a:off x="1617871" y="747067"/>
          <a:ext cx="2239245" cy="14219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*Albania's cybersecurity metrics show a mixed picture compared to the European average.</a:t>
          </a:r>
        </a:p>
      </dsp:txBody>
      <dsp:txXfrm>
        <a:off x="1659518" y="788714"/>
        <a:ext cx="2155951" cy="1338627"/>
      </dsp:txXfrm>
    </dsp:sp>
    <dsp:sp modelId="{531093AD-530F-4762-A7A8-11F0B92B27D8}">
      <dsp:nvSpPr>
        <dsp:cNvPr id="0" name=""/>
        <dsp:cNvSpPr/>
      </dsp:nvSpPr>
      <dsp:spPr>
        <a:xfrm>
          <a:off x="637" y="2583870"/>
          <a:ext cx="2239245" cy="14219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F911BD-EDED-4F1A-9A2F-6E3E8539DF01}">
      <dsp:nvSpPr>
        <dsp:cNvPr id="0" name=""/>
        <dsp:cNvSpPr/>
      </dsp:nvSpPr>
      <dsp:spPr>
        <a:xfrm>
          <a:off x="249443" y="2820235"/>
          <a:ext cx="2239245" cy="14219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While Albania has a significantly higher Cybersecurity Exposure Index (CEI) of 0.566 versus Europe's 0.280625, indicating greater cybersecurity risk, its Global Cybersecurity Index (GCI) and National Cyber Security Index (NCSI) scores are lower than the European averages. </a:t>
          </a:r>
        </a:p>
      </dsp:txBody>
      <dsp:txXfrm>
        <a:off x="291090" y="2861882"/>
        <a:ext cx="2155951" cy="1338627"/>
      </dsp:txXfrm>
    </dsp:sp>
    <dsp:sp modelId="{94E0C976-3892-49A6-91A1-110261B2D34A}">
      <dsp:nvSpPr>
        <dsp:cNvPr id="0" name=""/>
        <dsp:cNvSpPr/>
      </dsp:nvSpPr>
      <dsp:spPr>
        <a:xfrm>
          <a:off x="2737494" y="2583870"/>
          <a:ext cx="2239245" cy="14219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97F977-D32B-4FB0-A639-EAA7709738C1}">
      <dsp:nvSpPr>
        <dsp:cNvPr id="0" name=""/>
        <dsp:cNvSpPr/>
      </dsp:nvSpPr>
      <dsp:spPr>
        <a:xfrm>
          <a:off x="2986299" y="2820235"/>
          <a:ext cx="2239245" cy="14219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t>*This suggests that although Albania faces higher cybersecurity threats, its preparedness and implementation of cybersecurity measures lag behind the regional standard.</a:t>
          </a:r>
        </a:p>
      </dsp:txBody>
      <dsp:txXfrm>
        <a:off x="3027946" y="2861882"/>
        <a:ext cx="2155951" cy="13386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0414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24773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791382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8421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850754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5245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836681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781426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839DEF4-262F-4ACF-9B29-3D4B819E7065}"/>
              </a:ext>
            </a:extLst>
          </p:cNvPr>
          <p:cNvSpPr>
            <a:spLocks noGrp="1"/>
          </p:cNvSpPr>
          <p:nvPr>
            <p:ph type="pic" idx="1"/>
          </p:nvPr>
        </p:nvSpPr>
        <p:spPr>
          <a:xfrm>
            <a:off x="5353969" y="987425"/>
            <a:ext cx="5694503"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152334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92986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E6171E64-FE02-4DE5-B72F-53C3706641C3}" type="datetimeFigureOut">
              <a:rPr lang="en-US" smtClean="0"/>
              <a:t>10/11/2024</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38169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E6171E64-FE02-4DE5-B72F-53C3706641C3}" type="datetimeFigureOut">
              <a:rPr lang="en-US" smtClean="0"/>
              <a:t>10/11/2024</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7352007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svg"/><Relationship Id="rId7" Type="http://schemas.openxmlformats.org/officeDocument/2006/relationships/diagramColors" Target="../diagrams/colors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2.svg"/><Relationship Id="rId7" Type="http://schemas.openxmlformats.org/officeDocument/2006/relationships/diagramQuickStyle" Target="../diagrams/quickStyle2.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3.pn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2.svg"/><Relationship Id="rId7" Type="http://schemas.openxmlformats.org/officeDocument/2006/relationships/diagramQuickStyle" Target="../diagrams/quickStyle3.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8.pn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3.jpe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EA855B9-EE27-4441-846C-35DF1C648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adlock on computer motherboard">
            <a:extLst>
              <a:ext uri="{FF2B5EF4-FFF2-40B4-BE49-F238E27FC236}">
                <a16:creationId xmlns:a16="http://schemas.microsoft.com/office/drawing/2014/main" id="{E49D7718-CE2C-D025-9626-E395FC5F9151}"/>
              </a:ext>
            </a:extLst>
          </p:cNvPr>
          <p:cNvPicPr>
            <a:picLocks noChangeAspect="1"/>
          </p:cNvPicPr>
          <p:nvPr/>
        </p:nvPicPr>
        <p:blipFill>
          <a:blip r:embed="rId2">
            <a:alphaModFix amt="50000"/>
          </a:blip>
          <a:srcRect b="15730"/>
          <a:stretch/>
        </p:blipFill>
        <p:spPr>
          <a:xfrm>
            <a:off x="20" y="10"/>
            <a:ext cx="12191979" cy="6857989"/>
          </a:xfrm>
          <a:prstGeom prst="rect">
            <a:avLst/>
          </a:prstGeom>
        </p:spPr>
      </p:pic>
      <p:sp>
        <p:nvSpPr>
          <p:cNvPr id="2" name="Title 1">
            <a:extLst>
              <a:ext uri="{FF2B5EF4-FFF2-40B4-BE49-F238E27FC236}">
                <a16:creationId xmlns:a16="http://schemas.microsoft.com/office/drawing/2014/main" id="{306AFF2D-71D5-5AC8-794A-9BAD6847312B}"/>
              </a:ext>
            </a:extLst>
          </p:cNvPr>
          <p:cNvSpPr>
            <a:spLocks noGrp="1"/>
          </p:cNvSpPr>
          <p:nvPr>
            <p:ph type="ctrTitle"/>
          </p:nvPr>
        </p:nvSpPr>
        <p:spPr>
          <a:xfrm>
            <a:off x="4886633" y="1451830"/>
            <a:ext cx="7134411" cy="3229897"/>
          </a:xfrm>
        </p:spPr>
        <p:txBody>
          <a:bodyPr>
            <a:normAutofit fontScale="90000"/>
          </a:bodyPr>
          <a:lstStyle/>
          <a:p>
            <a:pPr algn="r">
              <a:lnSpc>
                <a:spcPct val="120000"/>
              </a:lnSpc>
            </a:pPr>
            <a:r>
              <a:rPr lang="en-IN" sz="4000" b="1" dirty="0">
                <a:solidFill>
                  <a:srgbClr val="FFFFFF"/>
                </a:solidFill>
                <a:latin typeface="Amasis MT Pro Black" panose="02040A04050005020304" pitchFamily="18" charset="0"/>
                <a:ea typeface="ADLaM Display" panose="02010000000000000000" pitchFamily="2" charset="0"/>
                <a:cs typeface="ADLaM Display" panose="02010000000000000000" pitchFamily="2" charset="0"/>
              </a:rPr>
              <a:t>DATA DEFENDER:</a:t>
            </a:r>
            <a:br>
              <a:rPr lang="en-IN" sz="4000" b="1" dirty="0">
                <a:solidFill>
                  <a:srgbClr val="FFFFFF"/>
                </a:solidFill>
                <a:latin typeface="Amasis MT Pro Black" panose="02040A04050005020304" pitchFamily="18" charset="0"/>
                <a:ea typeface="ADLaM Display" panose="02010000000000000000" pitchFamily="2" charset="0"/>
                <a:cs typeface="ADLaM Display" panose="02010000000000000000" pitchFamily="2" charset="0"/>
              </a:rPr>
            </a:br>
            <a:r>
              <a:rPr lang="en-IN" sz="4000" b="1" dirty="0">
                <a:solidFill>
                  <a:srgbClr val="FFFFFF"/>
                </a:solidFill>
                <a:latin typeface="Amasis MT Pro Black" panose="02040A04050005020304" pitchFamily="18" charset="0"/>
                <a:ea typeface="ADLaM Display" panose="02010000000000000000" pitchFamily="2" charset="0"/>
                <a:cs typeface="ADLaM Display" panose="02010000000000000000" pitchFamily="2" charset="0"/>
              </a:rPr>
              <a:t>CYBER CRIME DATA ANALYSIS COMPETITION</a:t>
            </a:r>
            <a:br>
              <a:rPr lang="en-IN" sz="2800" dirty="0">
                <a:solidFill>
                  <a:srgbClr val="FFFFFF"/>
                </a:solidFill>
              </a:rPr>
            </a:br>
            <a:endParaRPr lang="en-IN" sz="2800" dirty="0">
              <a:solidFill>
                <a:srgbClr val="FFFFFF"/>
              </a:solidFill>
            </a:endParaRPr>
          </a:p>
        </p:txBody>
      </p:sp>
      <p:sp>
        <p:nvSpPr>
          <p:cNvPr id="3" name="Subtitle 2">
            <a:extLst>
              <a:ext uri="{FF2B5EF4-FFF2-40B4-BE49-F238E27FC236}">
                <a16:creationId xmlns:a16="http://schemas.microsoft.com/office/drawing/2014/main" id="{3E6C131A-4995-A8CC-4911-2196F84CED80}"/>
              </a:ext>
            </a:extLst>
          </p:cNvPr>
          <p:cNvSpPr>
            <a:spLocks noGrp="1"/>
          </p:cNvSpPr>
          <p:nvPr>
            <p:ph type="subTitle" idx="1"/>
          </p:nvPr>
        </p:nvSpPr>
        <p:spPr>
          <a:xfrm>
            <a:off x="5131747" y="4681726"/>
            <a:ext cx="6902550" cy="2176263"/>
          </a:xfrm>
        </p:spPr>
        <p:txBody>
          <a:bodyPr>
            <a:normAutofit/>
          </a:bodyPr>
          <a:lstStyle/>
          <a:p>
            <a:pPr algn="r"/>
            <a:r>
              <a:rPr lang="en-IN" dirty="0">
                <a:solidFill>
                  <a:srgbClr val="FFFFFF"/>
                </a:solidFill>
              </a:rPr>
              <a:t>BY</a:t>
            </a:r>
          </a:p>
          <a:p>
            <a:pPr algn="r"/>
            <a:r>
              <a:rPr lang="en-IN" dirty="0">
                <a:solidFill>
                  <a:srgbClr val="FFFFFF"/>
                </a:solidFill>
              </a:rPr>
              <a:t>RASWANT.P</a:t>
            </a:r>
            <a:br>
              <a:rPr lang="en-IN" dirty="0">
                <a:solidFill>
                  <a:srgbClr val="FFFFFF"/>
                </a:solidFill>
              </a:rPr>
            </a:br>
            <a:endParaRPr lang="en-IN" dirty="0">
              <a:solidFill>
                <a:srgbClr val="FFFFFF"/>
              </a:solidFill>
            </a:endParaRPr>
          </a:p>
        </p:txBody>
      </p:sp>
      <p:sp>
        <p:nvSpPr>
          <p:cNvPr id="13" name="Rectangle 12">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3" y="322803"/>
            <a:ext cx="642729" cy="2930667"/>
          </a:xfrm>
          <a:prstGeom prst="rect">
            <a:avLst/>
          </a:prstGeom>
          <a:blipFill dpi="0" rotWithShape="1">
            <a:blip r:embed="rId3">
              <a:alphaModFix amt="99000"/>
              <a:extLst>
                <a:ext uri="{96DAC541-7B7A-43D3-8B79-37D633B846F1}">
                  <asvg:svgBlip xmlns:asvg="http://schemas.microsoft.com/office/drawing/2016/SVG/main" r:embed="rId4"/>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50CAE6F-B26B-62A7-2368-4AB16DB4EBC2}"/>
              </a:ext>
            </a:extLst>
          </p:cNvPr>
          <p:cNvSpPr txBox="1"/>
          <p:nvPr/>
        </p:nvSpPr>
        <p:spPr>
          <a:xfrm>
            <a:off x="9103806" y="5591028"/>
            <a:ext cx="2943743" cy="375552"/>
          </a:xfrm>
          <a:prstGeom prst="rect">
            <a:avLst/>
          </a:prstGeom>
          <a:noFill/>
        </p:spPr>
        <p:txBody>
          <a:bodyPr wrap="square">
            <a:spAutoFit/>
          </a:bodyPr>
          <a:lstStyle/>
          <a:p>
            <a:pPr>
              <a:lnSpc>
                <a:spcPct val="107000"/>
              </a:lnSpc>
              <a:spcAft>
                <a:spcPts val="800"/>
              </a:spcAft>
            </a:pPr>
            <a:r>
              <a:rPr lang="en-IN" sz="1800" kern="100" dirty="0">
                <a:solidFill>
                  <a:srgbClr val="FFFFFF"/>
                </a:solidFill>
                <a:effectLst/>
                <a:latin typeface="Avenir LT Std 45 Book"/>
                <a:ea typeface="Calibri" panose="020F0502020204030204" pitchFamily="34" charset="0"/>
                <a:cs typeface="Mangal" panose="02040503050203030202" pitchFamily="18" charset="0"/>
              </a:rPr>
              <a:t>raswantraswant@gmail.com</a:t>
            </a:r>
            <a:endParaRPr lang="en-IN" sz="16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420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62A2D2A-418A-44CF-BDFA-DF226CCC2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ED2F08D-1D29-4936-B7D6-9F88442A0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lumMod val="20000"/>
              <a:lumOff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FDFE70-E2DB-569E-7AA8-5BFC88A2CD7B}"/>
              </a:ext>
            </a:extLst>
          </p:cNvPr>
          <p:cNvSpPr>
            <a:spLocks noGrp="1"/>
          </p:cNvSpPr>
          <p:nvPr>
            <p:ph type="title"/>
          </p:nvPr>
        </p:nvSpPr>
        <p:spPr>
          <a:xfrm>
            <a:off x="800100" y="395926"/>
            <a:ext cx="10591800" cy="914779"/>
          </a:xfrm>
        </p:spPr>
        <p:txBody>
          <a:bodyPr anchor="ctr">
            <a:normAutofit/>
          </a:bodyPr>
          <a:lstStyle/>
          <a:p>
            <a:r>
              <a:rPr lang="en-IN" sz="2400">
                <a:solidFill>
                  <a:srgbClr val="000000"/>
                </a:solidFill>
              </a:rPr>
              <a:t>CONTENTS</a:t>
            </a:r>
          </a:p>
        </p:txBody>
      </p:sp>
      <p:sp>
        <p:nvSpPr>
          <p:cNvPr id="13" name="Freeform: Shape 12">
            <a:extLst>
              <a:ext uri="{FF2B5EF4-FFF2-40B4-BE49-F238E27FC236}">
                <a16:creationId xmlns:a16="http://schemas.microsoft.com/office/drawing/2014/main" id="{FC727D49-D2FD-46AD-8B1A-11C9E5D9A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3997298" y="3248167"/>
            <a:ext cx="8194701" cy="3608015"/>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5" name="Rectangle 14">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014" y="1532587"/>
            <a:ext cx="10596886" cy="4471973"/>
          </a:xfrm>
          <a:prstGeom prst="rect">
            <a:avLst/>
          </a:prstGeom>
          <a:ln w="38100">
            <a:noFill/>
          </a:ln>
          <a:effectLst>
            <a:outerShdw dist="190500" dir="270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67B547C-9212-AD98-B216-119B763E79E1}"/>
              </a:ext>
            </a:extLst>
          </p:cNvPr>
          <p:cNvGraphicFramePr>
            <a:graphicFrameLocks noGrp="1"/>
          </p:cNvGraphicFramePr>
          <p:nvPr>
            <p:ph idx="1"/>
            <p:extLst>
              <p:ext uri="{D42A27DB-BD31-4B8C-83A1-F6EECF244321}">
                <p14:modId xmlns:p14="http://schemas.microsoft.com/office/powerpoint/2010/main" val="2408972299"/>
              </p:ext>
            </p:extLst>
          </p:nvPr>
        </p:nvGraphicFramePr>
        <p:xfrm>
          <a:off x="1600199" y="2019300"/>
          <a:ext cx="9192297" cy="34927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5408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0C817C9-850F-4FB6-B93B-CF3076C4A5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67782" cy="3306479"/>
            <a:chOff x="11619770" y="-2005"/>
            <a:chExt cx="567782" cy="3306479"/>
          </a:xfrm>
        </p:grpSpPr>
        <p:sp>
          <p:nvSpPr>
            <p:cNvPr id="10" name="Freeform: Shape 9">
              <a:extLst>
                <a:ext uri="{FF2B5EF4-FFF2-40B4-BE49-F238E27FC236}">
                  <a16:creationId xmlns:a16="http://schemas.microsoft.com/office/drawing/2014/main" id="{159433A8-B67D-4675-AFDE-131069A70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3" name="Rectangle 12">
            <a:extLst>
              <a:ext uri="{FF2B5EF4-FFF2-40B4-BE49-F238E27FC236}">
                <a16:creationId xmlns:a16="http://schemas.microsoft.com/office/drawing/2014/main" id="{FFC321AD-2C92-446F-AF58-8CAA634BF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EA855B9-EE27-4441-846C-35DF1C6483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fferent coloured question marks">
            <a:extLst>
              <a:ext uri="{FF2B5EF4-FFF2-40B4-BE49-F238E27FC236}">
                <a16:creationId xmlns:a16="http://schemas.microsoft.com/office/drawing/2014/main" id="{9691B3CC-4E58-E9FD-FFF0-B1AAD9A32B86}"/>
              </a:ext>
            </a:extLst>
          </p:cNvPr>
          <p:cNvPicPr>
            <a:picLocks noChangeAspect="1"/>
          </p:cNvPicPr>
          <p:nvPr/>
        </p:nvPicPr>
        <p:blipFill>
          <a:blip r:embed="rId4">
            <a:alphaModFix amt="50000"/>
          </a:blip>
          <a:srcRect/>
          <a:stretch/>
        </p:blipFill>
        <p:spPr>
          <a:xfrm>
            <a:off x="20" y="10"/>
            <a:ext cx="12191979" cy="6857989"/>
          </a:xfrm>
          <a:prstGeom prst="rect">
            <a:avLst/>
          </a:prstGeom>
        </p:spPr>
      </p:pic>
      <p:sp>
        <p:nvSpPr>
          <p:cNvPr id="2" name="Title 1">
            <a:extLst>
              <a:ext uri="{FF2B5EF4-FFF2-40B4-BE49-F238E27FC236}">
                <a16:creationId xmlns:a16="http://schemas.microsoft.com/office/drawing/2014/main" id="{D5721FF1-A5EE-34B9-A976-59791713F007}"/>
              </a:ext>
            </a:extLst>
          </p:cNvPr>
          <p:cNvSpPr>
            <a:spLocks noGrp="1"/>
          </p:cNvSpPr>
          <p:nvPr>
            <p:ph type="title"/>
          </p:nvPr>
        </p:nvSpPr>
        <p:spPr>
          <a:xfrm>
            <a:off x="4426526" y="1261872"/>
            <a:ext cx="7279885" cy="2852928"/>
          </a:xfrm>
        </p:spPr>
        <p:txBody>
          <a:bodyPr vert="horz" lIns="91440" tIns="45720" rIns="91440" bIns="45720" rtlCol="0" anchor="b">
            <a:normAutofit/>
          </a:bodyPr>
          <a:lstStyle/>
          <a:p>
            <a:pPr algn="r">
              <a:lnSpc>
                <a:spcPct val="130000"/>
              </a:lnSpc>
            </a:pPr>
            <a:r>
              <a:rPr lang="en-US" sz="3600" b="1" spc="1300" dirty="0">
                <a:solidFill>
                  <a:srgbClr val="FFFFFF"/>
                </a:solidFill>
                <a:latin typeface="Amasis MT Pro Black" panose="02040A04050005020304" pitchFamily="18" charset="0"/>
              </a:rPr>
              <a:t>QUESTIONS ABOUT THE DATASET</a:t>
            </a:r>
          </a:p>
        </p:txBody>
      </p:sp>
      <p:sp>
        <p:nvSpPr>
          <p:cNvPr id="3" name="Content Placeholder 2">
            <a:extLst>
              <a:ext uri="{FF2B5EF4-FFF2-40B4-BE49-F238E27FC236}">
                <a16:creationId xmlns:a16="http://schemas.microsoft.com/office/drawing/2014/main" id="{40CFF06B-9623-9DC3-FD3E-F249A59BDA45}"/>
              </a:ext>
            </a:extLst>
          </p:cNvPr>
          <p:cNvSpPr>
            <a:spLocks noGrp="1"/>
          </p:cNvSpPr>
          <p:nvPr>
            <p:ph idx="1"/>
          </p:nvPr>
        </p:nvSpPr>
        <p:spPr>
          <a:xfrm>
            <a:off x="5289430" y="4114800"/>
            <a:ext cx="6902550" cy="929296"/>
          </a:xfrm>
        </p:spPr>
        <p:txBody>
          <a:bodyPr vert="horz" lIns="91440" tIns="45720" rIns="91440" bIns="45720" rtlCol="0">
            <a:normAutofit/>
          </a:bodyPr>
          <a:lstStyle/>
          <a:p>
            <a:pPr marL="0" indent="0" algn="r">
              <a:buNone/>
            </a:pPr>
            <a:r>
              <a:rPr lang="en-US" sz="1600" b="1" cap="all" spc="600" dirty="0">
                <a:solidFill>
                  <a:srgbClr val="FFFFFF"/>
                </a:solidFill>
                <a:latin typeface="+mn-lt"/>
              </a:rPr>
              <a:t>IT CONSISTS OF 15 QUESTIONS!!!</a:t>
            </a:r>
          </a:p>
        </p:txBody>
      </p:sp>
      <p:sp>
        <p:nvSpPr>
          <p:cNvPr id="17" name="Rectangle 16">
            <a:extLst>
              <a:ext uri="{FF2B5EF4-FFF2-40B4-BE49-F238E27FC236}">
                <a16:creationId xmlns:a16="http://schemas.microsoft.com/office/drawing/2014/main" id="{2BF5D4DB-368A-4B23-81E4-E0454BAD8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253" y="322803"/>
            <a:ext cx="642729" cy="2930667"/>
          </a:xfrm>
          <a:prstGeom prst="rect">
            <a:avLst/>
          </a:prstGeom>
          <a:blipFill dpi="0" rotWithShape="1">
            <a:blip r:embed="rId5">
              <a:alphaModFix amt="99000"/>
              <a:extLst>
                <a:ext uri="{96DAC541-7B7A-43D3-8B79-37D633B846F1}">
                  <asvg:svgBlip xmlns:asvg="http://schemas.microsoft.com/office/drawing/2016/SVG/main" r:embed="rId6"/>
                </a:ext>
              </a:extLst>
            </a:blip>
            <a:srcRect/>
            <a:tile tx="0" ty="0" sx="6000" sy="6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372D7B9-36D5-4C1F-B7C9-36717C28F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607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FA51F6-7FE1-CFCD-5396-C13072F4F349}"/>
              </a:ext>
            </a:extLst>
          </p:cNvPr>
          <p:cNvSpPr>
            <a:spLocks noGrp="1"/>
          </p:cNvSpPr>
          <p:nvPr>
            <p:ph idx="1"/>
          </p:nvPr>
        </p:nvSpPr>
        <p:spPr>
          <a:xfrm>
            <a:off x="848780" y="817751"/>
            <a:ext cx="10535927" cy="897126"/>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1) Which country in the Asia-Pacific region has the highest CEI score, and how does its GCI and NCSI compare to other countries in the same region?</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descr="A screenshot of a graph&#10;&#10;Description automatically generated">
            <a:extLst>
              <a:ext uri="{FF2B5EF4-FFF2-40B4-BE49-F238E27FC236}">
                <a16:creationId xmlns:a16="http://schemas.microsoft.com/office/drawing/2014/main" id="{BC0F2FE7-07E8-52AF-F18B-6A8B0B0B615D}"/>
              </a:ext>
            </a:extLst>
          </p:cNvPr>
          <p:cNvPicPr>
            <a:picLocks noChangeAspect="1"/>
          </p:cNvPicPr>
          <p:nvPr/>
        </p:nvPicPr>
        <p:blipFill>
          <a:blip r:embed="rId4"/>
          <a:stretch>
            <a:fillRect/>
          </a:stretch>
        </p:blipFill>
        <p:spPr>
          <a:xfrm>
            <a:off x="1043120" y="1881157"/>
            <a:ext cx="5632984" cy="3606959"/>
          </a:xfrm>
          <a:prstGeom prst="rect">
            <a:avLst/>
          </a:prstGeom>
        </p:spPr>
      </p:pic>
      <p:cxnSp>
        <p:nvCxnSpPr>
          <p:cNvPr id="9" name="Straight Arrow Connector 8">
            <a:extLst>
              <a:ext uri="{FF2B5EF4-FFF2-40B4-BE49-F238E27FC236}">
                <a16:creationId xmlns:a16="http://schemas.microsoft.com/office/drawing/2014/main" id="{3D7A47E5-2B32-E209-32F9-C683612475E8}"/>
              </a:ext>
            </a:extLst>
          </p:cNvPr>
          <p:cNvCxnSpPr/>
          <p:nvPr/>
        </p:nvCxnSpPr>
        <p:spPr>
          <a:xfrm>
            <a:off x="6803923" y="1881157"/>
            <a:ext cx="0" cy="390446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extBox 12">
            <a:extLst>
              <a:ext uri="{FF2B5EF4-FFF2-40B4-BE49-F238E27FC236}">
                <a16:creationId xmlns:a16="http://schemas.microsoft.com/office/drawing/2014/main" id="{149BB819-A1EA-C13E-D3B3-B864F4DC40F7}"/>
              </a:ext>
            </a:extLst>
          </p:cNvPr>
          <p:cNvGraphicFramePr/>
          <p:nvPr/>
        </p:nvGraphicFramePr>
        <p:xfrm>
          <a:off x="6908294" y="1443168"/>
          <a:ext cx="4240586" cy="397031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32121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BC4F50-C431-F8CB-DE7B-8DF9143B3CE8}"/>
              </a:ext>
            </a:extLst>
          </p:cNvPr>
          <p:cNvSpPr>
            <a:spLocks noGrp="1"/>
          </p:cNvSpPr>
          <p:nvPr>
            <p:ph idx="1"/>
          </p:nvPr>
        </p:nvSpPr>
        <p:spPr>
          <a:xfrm>
            <a:off x="923929" y="846611"/>
            <a:ext cx="10577414" cy="802327"/>
          </a:xfrm>
        </p:spPr>
        <p:txBody>
          <a:bodyPr anchor="t">
            <a:normAutofit lnSpcReduction="10000"/>
          </a:bodyPr>
          <a:lstStyle/>
          <a:p>
            <a:pPr marL="0" indent="0">
              <a:buNone/>
            </a:pPr>
            <a:r>
              <a:rPr lang="en-US" b="1" dirty="0"/>
              <a:t>2) How does Albania's cybersecurity metrics (CEI, GCI, NCSI) compared to other European countries?</a:t>
            </a:r>
            <a:endParaRPr lang="en-IN" b="1" dirty="0"/>
          </a:p>
        </p:txBody>
      </p:sp>
      <p:pic>
        <p:nvPicPr>
          <p:cNvPr id="5" name="Picture 4">
            <a:extLst>
              <a:ext uri="{FF2B5EF4-FFF2-40B4-BE49-F238E27FC236}">
                <a16:creationId xmlns:a16="http://schemas.microsoft.com/office/drawing/2014/main" id="{D212E325-AA7F-B8F2-4F9A-B712DEE92FBA}"/>
              </a:ext>
            </a:extLst>
          </p:cNvPr>
          <p:cNvPicPr>
            <a:picLocks noChangeAspect="1"/>
          </p:cNvPicPr>
          <p:nvPr/>
        </p:nvPicPr>
        <p:blipFill>
          <a:blip r:embed="rId4"/>
          <a:stretch>
            <a:fillRect/>
          </a:stretch>
        </p:blipFill>
        <p:spPr>
          <a:xfrm>
            <a:off x="1026020" y="1584446"/>
            <a:ext cx="5063034" cy="4362451"/>
          </a:xfrm>
          <a:prstGeom prst="rect">
            <a:avLst/>
          </a:prstGeom>
        </p:spPr>
      </p:pic>
      <p:cxnSp>
        <p:nvCxnSpPr>
          <p:cNvPr id="11" name="Straight Arrow Connector 10">
            <a:extLst>
              <a:ext uri="{FF2B5EF4-FFF2-40B4-BE49-F238E27FC236}">
                <a16:creationId xmlns:a16="http://schemas.microsoft.com/office/drawing/2014/main" id="{82FAA88A-F36D-B1F2-057F-0BA95482E9BE}"/>
              </a:ext>
            </a:extLst>
          </p:cNvPr>
          <p:cNvCxnSpPr/>
          <p:nvPr/>
        </p:nvCxnSpPr>
        <p:spPr>
          <a:xfrm>
            <a:off x="6007888" y="1405591"/>
            <a:ext cx="13894" cy="4388806"/>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extBox 6">
            <a:extLst>
              <a:ext uri="{FF2B5EF4-FFF2-40B4-BE49-F238E27FC236}">
                <a16:creationId xmlns:a16="http://schemas.microsoft.com/office/drawing/2014/main" id="{53CC2080-0E8E-4D82-F60A-D7073C199579}"/>
              </a:ext>
            </a:extLst>
          </p:cNvPr>
          <p:cNvGraphicFramePr/>
          <p:nvPr>
            <p:extLst>
              <p:ext uri="{D42A27DB-BD31-4B8C-83A1-F6EECF244321}">
                <p14:modId xmlns:p14="http://schemas.microsoft.com/office/powerpoint/2010/main" val="1707485809"/>
              </p:ext>
            </p:extLst>
          </p:nvPr>
        </p:nvGraphicFramePr>
        <p:xfrm>
          <a:off x="6124034" y="1258530"/>
          <a:ext cx="5226183" cy="475285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402434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BC4F50-C431-F8CB-DE7B-8DF9143B3CE8}"/>
              </a:ext>
            </a:extLst>
          </p:cNvPr>
          <p:cNvSpPr>
            <a:spLocks noGrp="1"/>
          </p:cNvSpPr>
          <p:nvPr>
            <p:ph idx="1"/>
          </p:nvPr>
        </p:nvSpPr>
        <p:spPr>
          <a:xfrm>
            <a:off x="891571" y="753380"/>
            <a:ext cx="10979426" cy="708622"/>
          </a:xfrm>
        </p:spPr>
        <p:txBody>
          <a:bodyPr anchor="t">
            <a:normAutofit fontScale="92500" lnSpcReduction="20000"/>
          </a:bodyPr>
          <a:lstStyle/>
          <a:p>
            <a:pPr marL="0" indent="0">
              <a:buNone/>
            </a:pPr>
            <a:r>
              <a:rPr lang="en-US" b="1" dirty="0"/>
              <a:t>3) Which country in Africa has the highest NCSI and how does its DDL relate to its other cybersecurity indicators?</a:t>
            </a:r>
            <a:endParaRPr lang="en-IN" b="1" dirty="0"/>
          </a:p>
        </p:txBody>
      </p:sp>
      <p:pic>
        <p:nvPicPr>
          <p:cNvPr id="5" name="Picture 4">
            <a:extLst>
              <a:ext uri="{FF2B5EF4-FFF2-40B4-BE49-F238E27FC236}">
                <a16:creationId xmlns:a16="http://schemas.microsoft.com/office/drawing/2014/main" id="{46D7D3C9-9E12-8F89-BC75-8F1235D63358}"/>
              </a:ext>
            </a:extLst>
          </p:cNvPr>
          <p:cNvPicPr>
            <a:picLocks noChangeAspect="1"/>
          </p:cNvPicPr>
          <p:nvPr/>
        </p:nvPicPr>
        <p:blipFill>
          <a:blip r:embed="rId4"/>
          <a:stretch>
            <a:fillRect/>
          </a:stretch>
        </p:blipFill>
        <p:spPr>
          <a:xfrm>
            <a:off x="938347" y="1419015"/>
            <a:ext cx="10399583" cy="2740985"/>
          </a:xfrm>
          <a:prstGeom prst="rect">
            <a:avLst/>
          </a:prstGeom>
        </p:spPr>
      </p:pic>
      <p:sp>
        <p:nvSpPr>
          <p:cNvPr id="7" name="TextBox 6">
            <a:extLst>
              <a:ext uri="{FF2B5EF4-FFF2-40B4-BE49-F238E27FC236}">
                <a16:creationId xmlns:a16="http://schemas.microsoft.com/office/drawing/2014/main" id="{DFDE98F3-15FF-8C27-424A-07D4A17D8041}"/>
              </a:ext>
            </a:extLst>
          </p:cNvPr>
          <p:cNvSpPr txBox="1"/>
          <p:nvPr/>
        </p:nvSpPr>
        <p:spPr>
          <a:xfrm>
            <a:off x="891571" y="4267580"/>
            <a:ext cx="10493136" cy="1754326"/>
          </a:xfrm>
          <a:prstGeom prst="rect">
            <a:avLst/>
          </a:prstGeom>
          <a:noFill/>
        </p:spPr>
        <p:txBody>
          <a:bodyPr wrap="square">
            <a:spAutoFit/>
          </a:bodyPr>
          <a:lstStyle/>
          <a:p>
            <a:r>
              <a:rPr lang="en-US" dirty="0"/>
              <a:t>Morocco leads Africa with the highest National Cyber Security Index (NCSI) of 70.13, coupled with a Digital Development Level (DDL) of 46.88. Despite its high NCSI, Morocco faces significant cybersecurity exposure with a CEI of 0.75. The scatter plots reveal a general trend where countries with higher NCSI scores tend to have higher DDL and GCI scores, but the relationship with CEI is less clear, suggesting that even countries with strong cybersecurity measures can face high exposure to cyber risks.</a:t>
            </a:r>
            <a:endParaRPr lang="en-IN" dirty="0"/>
          </a:p>
        </p:txBody>
      </p:sp>
    </p:spTree>
    <p:extLst>
      <p:ext uri="{BB962C8B-B14F-4D97-AF65-F5344CB8AC3E}">
        <p14:creationId xmlns:p14="http://schemas.microsoft.com/office/powerpoint/2010/main" val="2445100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6882FB2-F842-CF78-A6D2-6CFCBA1F2BB7}"/>
              </a:ext>
            </a:extLst>
          </p:cNvPr>
          <p:cNvSpPr>
            <a:spLocks noGrp="1"/>
          </p:cNvSpPr>
          <p:nvPr>
            <p:ph idx="1"/>
          </p:nvPr>
        </p:nvSpPr>
        <p:spPr>
          <a:xfrm>
            <a:off x="1340393" y="74290"/>
            <a:ext cx="9889559" cy="499772"/>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4) What is the relationship between CEI and GCI for countries in South America?</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a:extLst>
              <a:ext uri="{FF2B5EF4-FFF2-40B4-BE49-F238E27FC236}">
                <a16:creationId xmlns:a16="http://schemas.microsoft.com/office/drawing/2014/main" id="{058CAEA0-601A-F839-6FF6-E93BD5571FBD}"/>
              </a:ext>
            </a:extLst>
          </p:cNvPr>
          <p:cNvPicPr>
            <a:picLocks noChangeAspect="1"/>
          </p:cNvPicPr>
          <p:nvPr/>
        </p:nvPicPr>
        <p:blipFill>
          <a:blip r:embed="rId4"/>
          <a:stretch>
            <a:fillRect/>
          </a:stretch>
        </p:blipFill>
        <p:spPr>
          <a:xfrm>
            <a:off x="751325" y="817751"/>
            <a:ext cx="6249243" cy="4761471"/>
          </a:xfrm>
          <a:prstGeom prst="rect">
            <a:avLst/>
          </a:prstGeom>
        </p:spPr>
      </p:pic>
      <p:sp>
        <p:nvSpPr>
          <p:cNvPr id="7" name="TextBox 6">
            <a:extLst>
              <a:ext uri="{FF2B5EF4-FFF2-40B4-BE49-F238E27FC236}">
                <a16:creationId xmlns:a16="http://schemas.microsoft.com/office/drawing/2014/main" id="{915848B8-A8B9-31AF-4A09-70502F81D19A}"/>
              </a:ext>
            </a:extLst>
          </p:cNvPr>
          <p:cNvSpPr txBox="1"/>
          <p:nvPr/>
        </p:nvSpPr>
        <p:spPr>
          <a:xfrm>
            <a:off x="6909625" y="889843"/>
            <a:ext cx="4580409" cy="5078313"/>
          </a:xfrm>
          <a:prstGeom prst="rect">
            <a:avLst/>
          </a:prstGeom>
          <a:noFill/>
        </p:spPr>
        <p:txBody>
          <a:bodyPr wrap="square">
            <a:spAutoFit/>
          </a:bodyPr>
          <a:lstStyle/>
          <a:p>
            <a:r>
              <a:rPr lang="en-US" dirty="0"/>
              <a:t>In South America, the relationship between the Cybersecurity Exposure Index (CEI) and the Global Cybersecurity Index (GCI) shows that countries with lower CEI values tend to have higher GCI scores, indicating stronger cybersecurity measures relative to their exposure. Brazil, with a low CEI, ranks highest on the GCI, suggesting its cybersecurity readiness is strong despite exposure risks. In contrast, Bolivia and Ecuador, with higher CEI values, have comparatively lower GCI scores, reflecting limited cybersecurity defenses. This negative relationship implies that as cybersecurity risks increase (higher CEI), some countries struggle to keep up in terms of cybersecurity capabilities (lower GCI).</a:t>
            </a:r>
            <a:endParaRPr lang="en-IN" dirty="0"/>
          </a:p>
        </p:txBody>
      </p:sp>
    </p:spTree>
    <p:extLst>
      <p:ext uri="{BB962C8B-B14F-4D97-AF65-F5344CB8AC3E}">
        <p14:creationId xmlns:p14="http://schemas.microsoft.com/office/powerpoint/2010/main" val="4294931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3D13EE9-D9D3-12D1-447E-A57AFBEA86E8}"/>
              </a:ext>
            </a:extLst>
          </p:cNvPr>
          <p:cNvSpPr>
            <a:spLocks noGrp="1"/>
          </p:cNvSpPr>
          <p:nvPr>
            <p:ph idx="1"/>
          </p:nvPr>
        </p:nvSpPr>
        <p:spPr>
          <a:xfrm>
            <a:off x="19971" y="-17547"/>
            <a:ext cx="12192000" cy="735302"/>
          </a:xfrm>
        </p:spPr>
        <p:txBody>
          <a:bodyPr anchor="t">
            <a:normAutofit fontScale="92500" lnSpcReduction="20000"/>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5) Which countries in North America have the lowest Cybersecurity Exposure Index (CEI), and how does it relate to their GCI and NCSI?</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a:extLst>
              <a:ext uri="{FF2B5EF4-FFF2-40B4-BE49-F238E27FC236}">
                <a16:creationId xmlns:a16="http://schemas.microsoft.com/office/drawing/2014/main" id="{DA2F8B19-8EE1-D909-2797-9B42EEB45A41}"/>
              </a:ext>
            </a:extLst>
          </p:cNvPr>
          <p:cNvPicPr>
            <a:picLocks noChangeAspect="1"/>
          </p:cNvPicPr>
          <p:nvPr/>
        </p:nvPicPr>
        <p:blipFill>
          <a:blip r:embed="rId4"/>
          <a:stretch>
            <a:fillRect/>
          </a:stretch>
        </p:blipFill>
        <p:spPr>
          <a:xfrm>
            <a:off x="928661" y="881887"/>
            <a:ext cx="7216946" cy="4921283"/>
          </a:xfrm>
          <a:prstGeom prst="rect">
            <a:avLst/>
          </a:prstGeom>
        </p:spPr>
      </p:pic>
      <p:sp>
        <p:nvSpPr>
          <p:cNvPr id="7" name="TextBox 6">
            <a:extLst>
              <a:ext uri="{FF2B5EF4-FFF2-40B4-BE49-F238E27FC236}">
                <a16:creationId xmlns:a16="http://schemas.microsoft.com/office/drawing/2014/main" id="{D76AC8F0-34A9-1AB5-AD8F-E64200C905C5}"/>
              </a:ext>
            </a:extLst>
          </p:cNvPr>
          <p:cNvSpPr txBox="1"/>
          <p:nvPr/>
        </p:nvSpPr>
        <p:spPr>
          <a:xfrm>
            <a:off x="7829552" y="798220"/>
            <a:ext cx="3555155" cy="5355312"/>
          </a:xfrm>
          <a:prstGeom prst="rect">
            <a:avLst/>
          </a:prstGeom>
          <a:noFill/>
        </p:spPr>
        <p:txBody>
          <a:bodyPr wrap="square">
            <a:spAutoFit/>
          </a:bodyPr>
          <a:lstStyle/>
          <a:p>
            <a:r>
              <a:rPr lang="en-US" dirty="0"/>
              <a:t>The provided data reveals that several Caribbean nations in North America, including Antigua and Barbuda, Saint Vincent and the Grenadines, Saint Lucia, Saint Kitts and Nevis, and Jamaica, exhibit low Cybersecurity Exposure Index (CEI) scores. Despite moderate levels of overall cybersecurity maturity, these countries display varying levels of network security preparedness. This suggests that while they have made efforts to enhance their cybersecurity, challenges persist in securing their digital infrastructure and mitigating cyber risks.</a:t>
            </a:r>
            <a:endParaRPr lang="en-IN" dirty="0"/>
          </a:p>
        </p:txBody>
      </p:sp>
    </p:spTree>
    <p:extLst>
      <p:ext uri="{BB962C8B-B14F-4D97-AF65-F5344CB8AC3E}">
        <p14:creationId xmlns:p14="http://schemas.microsoft.com/office/powerpoint/2010/main" val="1080136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4B0AA8F-4839-43B5-5F98-F54A1541A87C}"/>
              </a:ext>
            </a:extLst>
          </p:cNvPr>
          <p:cNvSpPr>
            <a:spLocks noGrp="1"/>
          </p:cNvSpPr>
          <p:nvPr>
            <p:ph idx="1"/>
          </p:nvPr>
        </p:nvSpPr>
        <p:spPr>
          <a:xfrm>
            <a:off x="98323" y="19531"/>
            <a:ext cx="12113647" cy="5495444"/>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6) How does Argentina's NCSI score compare with other South American countries, and what trends can be observed?</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4" name="Picture 3">
            <a:extLst>
              <a:ext uri="{FF2B5EF4-FFF2-40B4-BE49-F238E27FC236}">
                <a16:creationId xmlns:a16="http://schemas.microsoft.com/office/drawing/2014/main" id="{07CEE568-8B00-621F-5B43-DFFD09B72ED6}"/>
              </a:ext>
            </a:extLst>
          </p:cNvPr>
          <p:cNvPicPr>
            <a:picLocks noChangeAspect="1"/>
          </p:cNvPicPr>
          <p:nvPr/>
        </p:nvPicPr>
        <p:blipFill>
          <a:blip r:embed="rId4"/>
          <a:stretch>
            <a:fillRect/>
          </a:stretch>
        </p:blipFill>
        <p:spPr>
          <a:xfrm>
            <a:off x="848780" y="978815"/>
            <a:ext cx="6852060" cy="4536160"/>
          </a:xfrm>
          <a:prstGeom prst="rect">
            <a:avLst/>
          </a:prstGeom>
        </p:spPr>
      </p:pic>
      <p:sp>
        <p:nvSpPr>
          <p:cNvPr id="6" name="TextBox 5">
            <a:extLst>
              <a:ext uri="{FF2B5EF4-FFF2-40B4-BE49-F238E27FC236}">
                <a16:creationId xmlns:a16="http://schemas.microsoft.com/office/drawing/2014/main" id="{273764A8-3E0A-EA36-E07B-254C7083352B}"/>
              </a:ext>
            </a:extLst>
          </p:cNvPr>
          <p:cNvSpPr txBox="1"/>
          <p:nvPr/>
        </p:nvSpPr>
        <p:spPr>
          <a:xfrm>
            <a:off x="7423354" y="978815"/>
            <a:ext cx="3975737" cy="3693319"/>
          </a:xfrm>
          <a:prstGeom prst="rect">
            <a:avLst/>
          </a:prstGeom>
          <a:noFill/>
        </p:spPr>
        <p:txBody>
          <a:bodyPr wrap="square">
            <a:spAutoFit/>
          </a:bodyPr>
          <a:lstStyle/>
          <a:p>
            <a:r>
              <a:rPr lang="en-US" dirty="0"/>
              <a:t>The box plot illustrates that Argentina's NCSI score of 63.64 significantly exceeds the average NCSI score of 48.29 for South America. This suggests that Argentina's network cybersecurity maturity is notably higher than that of its regional peers. The box plot also reveals that Argentina's NCSI score is an outlier, indicating that it is significantly different from the distribution of NCSI scores in the rest of South America.</a:t>
            </a:r>
            <a:endParaRPr lang="en-IN" dirty="0"/>
          </a:p>
        </p:txBody>
      </p:sp>
    </p:spTree>
    <p:extLst>
      <p:ext uri="{BB962C8B-B14F-4D97-AF65-F5344CB8AC3E}">
        <p14:creationId xmlns:p14="http://schemas.microsoft.com/office/powerpoint/2010/main" val="1428154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EB6987-3041-0FAE-1006-74B861630657}"/>
              </a:ext>
            </a:extLst>
          </p:cNvPr>
          <p:cNvSpPr>
            <a:spLocks noGrp="1"/>
          </p:cNvSpPr>
          <p:nvPr>
            <p:ph idx="1"/>
          </p:nvPr>
        </p:nvSpPr>
        <p:spPr>
          <a:xfrm>
            <a:off x="0" y="-17548"/>
            <a:ext cx="12211969" cy="951613"/>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7)What is the correlation between Digital Development Level (DDL) and Global Cybersecurity Index (GCI) across various regions?</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a:extLst>
              <a:ext uri="{FF2B5EF4-FFF2-40B4-BE49-F238E27FC236}">
                <a16:creationId xmlns:a16="http://schemas.microsoft.com/office/drawing/2014/main" id="{C158D4A8-2748-D5D8-5A47-89C10094AEDB}"/>
              </a:ext>
            </a:extLst>
          </p:cNvPr>
          <p:cNvPicPr>
            <a:picLocks noChangeAspect="1"/>
          </p:cNvPicPr>
          <p:nvPr/>
        </p:nvPicPr>
        <p:blipFill>
          <a:blip r:embed="rId4"/>
          <a:stretch>
            <a:fillRect/>
          </a:stretch>
        </p:blipFill>
        <p:spPr>
          <a:xfrm>
            <a:off x="787324" y="794259"/>
            <a:ext cx="6570589" cy="5194013"/>
          </a:xfrm>
          <a:prstGeom prst="rect">
            <a:avLst/>
          </a:prstGeom>
        </p:spPr>
      </p:pic>
      <p:sp>
        <p:nvSpPr>
          <p:cNvPr id="7" name="TextBox 6">
            <a:extLst>
              <a:ext uri="{FF2B5EF4-FFF2-40B4-BE49-F238E27FC236}">
                <a16:creationId xmlns:a16="http://schemas.microsoft.com/office/drawing/2014/main" id="{69E95D86-CCF4-ED35-A01C-B9BF77B5667D}"/>
              </a:ext>
            </a:extLst>
          </p:cNvPr>
          <p:cNvSpPr txBox="1"/>
          <p:nvPr/>
        </p:nvSpPr>
        <p:spPr>
          <a:xfrm>
            <a:off x="7216877" y="951613"/>
            <a:ext cx="4167830" cy="4524315"/>
          </a:xfrm>
          <a:prstGeom prst="rect">
            <a:avLst/>
          </a:prstGeom>
          <a:noFill/>
        </p:spPr>
        <p:txBody>
          <a:bodyPr wrap="square">
            <a:spAutoFit/>
          </a:bodyPr>
          <a:lstStyle/>
          <a:p>
            <a:r>
              <a:rPr lang="en-US" dirty="0"/>
              <a:t>The scatter plot illustrates the relationship between DDL and GCI across different regions. The correlation coefficients provided in the table indicate a strong positive correlation between DDL and GCI in all regions except North America. This suggests that in most regions, countries with higher levels of DDL tend to also have higher levels of GCI. However, in North America, the correlation between DDL and GCI is relatively weak, indicating that the relationship between these two variables is less pronounced in this region.</a:t>
            </a:r>
            <a:endParaRPr lang="en-IN" dirty="0"/>
          </a:p>
        </p:txBody>
      </p:sp>
    </p:spTree>
    <p:extLst>
      <p:ext uri="{BB962C8B-B14F-4D97-AF65-F5344CB8AC3E}">
        <p14:creationId xmlns:p14="http://schemas.microsoft.com/office/powerpoint/2010/main" val="393748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611689-6FEB-7DEA-41C3-9F334CA69CEA}"/>
              </a:ext>
            </a:extLst>
          </p:cNvPr>
          <p:cNvSpPr>
            <a:spLocks noGrp="1"/>
          </p:cNvSpPr>
          <p:nvPr>
            <p:ph idx="1"/>
          </p:nvPr>
        </p:nvSpPr>
        <p:spPr>
          <a:xfrm>
            <a:off x="226142" y="19531"/>
            <a:ext cx="11985829" cy="4152418"/>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8) Which countries exhibit a high CEI but low NCSI, and what does that imply about their cybersecurity status?</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dirty="0"/>
          </a:p>
        </p:txBody>
      </p:sp>
      <p:pic>
        <p:nvPicPr>
          <p:cNvPr id="5" name="Picture 4">
            <a:extLst>
              <a:ext uri="{FF2B5EF4-FFF2-40B4-BE49-F238E27FC236}">
                <a16:creationId xmlns:a16="http://schemas.microsoft.com/office/drawing/2014/main" id="{594DE7E1-7ABA-9155-11D0-9AE82054421B}"/>
              </a:ext>
            </a:extLst>
          </p:cNvPr>
          <p:cNvPicPr>
            <a:picLocks noChangeAspect="1"/>
          </p:cNvPicPr>
          <p:nvPr/>
        </p:nvPicPr>
        <p:blipFill>
          <a:blip r:embed="rId4"/>
          <a:stretch>
            <a:fillRect/>
          </a:stretch>
        </p:blipFill>
        <p:spPr>
          <a:xfrm>
            <a:off x="7580671" y="853168"/>
            <a:ext cx="3804036" cy="3001078"/>
          </a:xfrm>
          <a:prstGeom prst="rect">
            <a:avLst/>
          </a:prstGeom>
        </p:spPr>
      </p:pic>
      <p:pic>
        <p:nvPicPr>
          <p:cNvPr id="7" name="Picture 6">
            <a:extLst>
              <a:ext uri="{FF2B5EF4-FFF2-40B4-BE49-F238E27FC236}">
                <a16:creationId xmlns:a16="http://schemas.microsoft.com/office/drawing/2014/main" id="{C0570BC7-388B-4308-AB6E-BD4662AD6D56}"/>
              </a:ext>
            </a:extLst>
          </p:cNvPr>
          <p:cNvPicPr>
            <a:picLocks noChangeAspect="1"/>
          </p:cNvPicPr>
          <p:nvPr/>
        </p:nvPicPr>
        <p:blipFill>
          <a:blip r:embed="rId5"/>
          <a:stretch>
            <a:fillRect/>
          </a:stretch>
        </p:blipFill>
        <p:spPr>
          <a:xfrm>
            <a:off x="777490" y="737012"/>
            <a:ext cx="6613904" cy="3117234"/>
          </a:xfrm>
          <a:prstGeom prst="rect">
            <a:avLst/>
          </a:prstGeom>
        </p:spPr>
      </p:pic>
      <p:sp>
        <p:nvSpPr>
          <p:cNvPr id="11" name="TextBox 10">
            <a:extLst>
              <a:ext uri="{FF2B5EF4-FFF2-40B4-BE49-F238E27FC236}">
                <a16:creationId xmlns:a16="http://schemas.microsoft.com/office/drawing/2014/main" id="{62659175-8D1D-138B-BC78-A5959B1BCDF1}"/>
              </a:ext>
            </a:extLst>
          </p:cNvPr>
          <p:cNvSpPr txBox="1"/>
          <p:nvPr/>
        </p:nvSpPr>
        <p:spPr>
          <a:xfrm>
            <a:off x="841648" y="3899160"/>
            <a:ext cx="10754816" cy="2031325"/>
          </a:xfrm>
          <a:prstGeom prst="rect">
            <a:avLst/>
          </a:prstGeom>
          <a:noFill/>
        </p:spPr>
        <p:txBody>
          <a:bodyPr wrap="square">
            <a:spAutoFit/>
          </a:bodyPr>
          <a:lstStyle/>
          <a:p>
            <a:r>
              <a:rPr lang="en-US" dirty="0"/>
              <a:t>The provided table lists countries with high CEI scores but low NCSI scores. This indicates that these countries have a relatively high level of cybersecurity exposure, suggesting that they may be vulnerable to cyber threats, but they have a low level of network cybersecurity maturity, indicating that they may have limited capabilities to protect their digital infrastructure. Some notable examples include Afghanistan, Bolivia, Bosnia and Herzegovina, Cambodia, Cameroon, and El Salvador. It is important for these countries to invest in improving their network cybersecurity capabilities to mitigate their vulnerability to cyber attacks.</a:t>
            </a:r>
            <a:endParaRPr lang="en-IN" dirty="0"/>
          </a:p>
        </p:txBody>
      </p:sp>
    </p:spTree>
    <p:extLst>
      <p:ext uri="{BB962C8B-B14F-4D97-AF65-F5344CB8AC3E}">
        <p14:creationId xmlns:p14="http://schemas.microsoft.com/office/powerpoint/2010/main" val="3026142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F906326-1A63-4DC4-8EAA-6C5C12B4A335}"/>
              </a:ext>
            </a:extLst>
          </p:cNvPr>
          <p:cNvSpPr>
            <a:spLocks noGrp="1"/>
          </p:cNvSpPr>
          <p:nvPr>
            <p:ph idx="1"/>
          </p:nvPr>
        </p:nvSpPr>
        <p:spPr>
          <a:xfrm>
            <a:off x="147484" y="93185"/>
            <a:ext cx="12064487" cy="4152418"/>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9) How do countries in Europe compare in terms of CEI vs. DDL levels? Are there any clear patterns or anomalies?</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a:extLst>
              <a:ext uri="{FF2B5EF4-FFF2-40B4-BE49-F238E27FC236}">
                <a16:creationId xmlns:a16="http://schemas.microsoft.com/office/drawing/2014/main" id="{E3135835-64A2-3B46-51F6-2D45068B9FF6}"/>
              </a:ext>
            </a:extLst>
          </p:cNvPr>
          <p:cNvPicPr>
            <a:picLocks noChangeAspect="1"/>
          </p:cNvPicPr>
          <p:nvPr/>
        </p:nvPicPr>
        <p:blipFill>
          <a:blip r:embed="rId4"/>
          <a:stretch>
            <a:fillRect/>
          </a:stretch>
        </p:blipFill>
        <p:spPr>
          <a:xfrm>
            <a:off x="435642" y="835301"/>
            <a:ext cx="6370562" cy="5242028"/>
          </a:xfrm>
          <a:prstGeom prst="rect">
            <a:avLst/>
          </a:prstGeom>
        </p:spPr>
      </p:pic>
      <p:sp>
        <p:nvSpPr>
          <p:cNvPr id="7" name="TextBox 6">
            <a:extLst>
              <a:ext uri="{FF2B5EF4-FFF2-40B4-BE49-F238E27FC236}">
                <a16:creationId xmlns:a16="http://schemas.microsoft.com/office/drawing/2014/main" id="{5D9DE0DB-8886-E78E-6EF7-BE9162103EB5}"/>
              </a:ext>
            </a:extLst>
          </p:cNvPr>
          <p:cNvSpPr txBox="1"/>
          <p:nvPr/>
        </p:nvSpPr>
        <p:spPr>
          <a:xfrm>
            <a:off x="6806204" y="841538"/>
            <a:ext cx="4500893" cy="5355312"/>
          </a:xfrm>
          <a:prstGeom prst="rect">
            <a:avLst/>
          </a:prstGeom>
          <a:noFill/>
        </p:spPr>
        <p:txBody>
          <a:bodyPr wrap="square">
            <a:spAutoFit/>
          </a:bodyPr>
          <a:lstStyle/>
          <a:p>
            <a:r>
              <a:rPr lang="en-US" dirty="0"/>
              <a:t>For example, some countries in Eastern Europe, such as Russia and Belarus, have relatively high CEI scores but low DDL scores, suggesting that they may have made progress in improving their cybersecurity posture but still face challenges in promoting digital literacy and inclusion. some Western European countries, such as Denmark, Switzerland, and the Netherlands, have both high CEI and DDL scores, indicating that they have made significant strides in both cybersecurity and digital development. Overall, the plot suggests that there is a diverse range of experiences across Europe in terms of CEI and DDL levels, and that the relationship between these two variables is complex and multifaceted.</a:t>
            </a:r>
            <a:endParaRPr lang="en-IN" dirty="0"/>
          </a:p>
        </p:txBody>
      </p:sp>
    </p:spTree>
    <p:extLst>
      <p:ext uri="{BB962C8B-B14F-4D97-AF65-F5344CB8AC3E}">
        <p14:creationId xmlns:p14="http://schemas.microsoft.com/office/powerpoint/2010/main" val="822390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DB0B5BF-8B2B-68E3-093C-3C425DB23E0E}"/>
              </a:ext>
            </a:extLst>
          </p:cNvPr>
          <p:cNvSpPr>
            <a:spLocks noGrp="1"/>
          </p:cNvSpPr>
          <p:nvPr>
            <p:ph idx="1"/>
          </p:nvPr>
        </p:nvSpPr>
        <p:spPr>
          <a:xfrm>
            <a:off x="14384" y="19531"/>
            <a:ext cx="12157645" cy="5495444"/>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10) What are the top 5 countries with the highest GCI scores globally, and what are their CEI and NCSI values?</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a:extLst>
              <a:ext uri="{FF2B5EF4-FFF2-40B4-BE49-F238E27FC236}">
                <a16:creationId xmlns:a16="http://schemas.microsoft.com/office/drawing/2014/main" id="{A183C63A-102A-AF8A-0293-50A652CD3494}"/>
              </a:ext>
            </a:extLst>
          </p:cNvPr>
          <p:cNvPicPr>
            <a:picLocks noChangeAspect="1"/>
          </p:cNvPicPr>
          <p:nvPr/>
        </p:nvPicPr>
        <p:blipFill>
          <a:blip r:embed="rId4"/>
          <a:stretch>
            <a:fillRect/>
          </a:stretch>
        </p:blipFill>
        <p:spPr>
          <a:xfrm>
            <a:off x="868751" y="817751"/>
            <a:ext cx="5740690" cy="4658816"/>
          </a:xfrm>
          <a:prstGeom prst="rect">
            <a:avLst/>
          </a:prstGeom>
        </p:spPr>
      </p:pic>
      <p:sp>
        <p:nvSpPr>
          <p:cNvPr id="7" name="TextBox 6">
            <a:extLst>
              <a:ext uri="{FF2B5EF4-FFF2-40B4-BE49-F238E27FC236}">
                <a16:creationId xmlns:a16="http://schemas.microsoft.com/office/drawing/2014/main" id="{5B44DD0B-545D-A1FF-51F2-A8E98250DE3F}"/>
              </a:ext>
            </a:extLst>
          </p:cNvPr>
          <p:cNvSpPr txBox="1"/>
          <p:nvPr/>
        </p:nvSpPr>
        <p:spPr>
          <a:xfrm>
            <a:off x="6430297" y="1343026"/>
            <a:ext cx="4362452" cy="2862322"/>
          </a:xfrm>
          <a:prstGeom prst="rect">
            <a:avLst/>
          </a:prstGeom>
          <a:noFill/>
        </p:spPr>
        <p:txBody>
          <a:bodyPr wrap="square">
            <a:spAutoFit/>
          </a:bodyPr>
          <a:lstStyle/>
          <a:p>
            <a:r>
              <a:rPr lang="en-US" dirty="0"/>
              <a:t>The bar chart ranks the United States, Saudi Arabia, the United Kingdom, Estonia, and Singapore as the top 5 countries globally in terms of GCI. These countries demonstrate strong cybersecurity practices, with low CEI scores and high NCSI scores, indicating a robust digital infrastructure and effective protection against cyber threats.</a:t>
            </a:r>
            <a:endParaRPr lang="en-IN" dirty="0"/>
          </a:p>
        </p:txBody>
      </p:sp>
    </p:spTree>
    <p:extLst>
      <p:ext uri="{BB962C8B-B14F-4D97-AF65-F5344CB8AC3E}">
        <p14:creationId xmlns:p14="http://schemas.microsoft.com/office/powerpoint/2010/main" val="1796675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33CDA3-315C-3E6E-C568-98A19194B15A}"/>
              </a:ext>
            </a:extLst>
          </p:cNvPr>
          <p:cNvSpPr>
            <a:spLocks noGrp="1"/>
          </p:cNvSpPr>
          <p:nvPr>
            <p:ph idx="1"/>
          </p:nvPr>
        </p:nvSpPr>
        <p:spPr>
          <a:xfrm>
            <a:off x="792910" y="733867"/>
            <a:ext cx="10504356" cy="5532523"/>
          </a:xfrm>
        </p:spPr>
        <p:txBody>
          <a:bodyPr anchor="t">
            <a:normAutofit/>
          </a:bodyPr>
          <a:lstStyle/>
          <a:p>
            <a:pPr marL="0" indent="0">
              <a:buNone/>
            </a:pPr>
            <a:r>
              <a:rPr lang="en-IN" dirty="0">
                <a:effectLst/>
                <a:latin typeface="Avenir LT Std 45 Book"/>
                <a:ea typeface="Calibri" panose="020F0502020204030204" pitchFamily="34" charset="0"/>
                <a:cs typeface="Mangal" panose="02040503050203030202" pitchFamily="18" charset="0"/>
              </a:rPr>
              <a:t>11) What is the regional distribution of countries with a CEI of 0, and what could explain the cybersecurity status in those regions?</a:t>
            </a:r>
            <a:endParaRPr lang="en-IN" dirty="0"/>
          </a:p>
        </p:txBody>
      </p:sp>
      <p:pic>
        <p:nvPicPr>
          <p:cNvPr id="5" name="Picture 4">
            <a:extLst>
              <a:ext uri="{FF2B5EF4-FFF2-40B4-BE49-F238E27FC236}">
                <a16:creationId xmlns:a16="http://schemas.microsoft.com/office/drawing/2014/main" id="{C3A56B42-1107-7F92-748E-94D0C8A67EAE}"/>
              </a:ext>
            </a:extLst>
          </p:cNvPr>
          <p:cNvPicPr>
            <a:picLocks noChangeAspect="1"/>
          </p:cNvPicPr>
          <p:nvPr/>
        </p:nvPicPr>
        <p:blipFill>
          <a:blip r:embed="rId4"/>
          <a:stretch>
            <a:fillRect/>
          </a:stretch>
        </p:blipFill>
        <p:spPr>
          <a:xfrm>
            <a:off x="3939349" y="1685865"/>
            <a:ext cx="3720571" cy="3702213"/>
          </a:xfrm>
          <a:prstGeom prst="rect">
            <a:avLst/>
          </a:prstGeom>
        </p:spPr>
      </p:pic>
    </p:spTree>
    <p:extLst>
      <p:ext uri="{BB962C8B-B14F-4D97-AF65-F5344CB8AC3E}">
        <p14:creationId xmlns:p14="http://schemas.microsoft.com/office/powerpoint/2010/main" val="2690641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469211-0EE6-E0B5-F0D7-F9754C0BDA90}"/>
              </a:ext>
            </a:extLst>
          </p:cNvPr>
          <p:cNvSpPr>
            <a:spLocks noGrp="1"/>
          </p:cNvSpPr>
          <p:nvPr>
            <p:ph idx="1"/>
          </p:nvPr>
        </p:nvSpPr>
        <p:spPr>
          <a:xfrm>
            <a:off x="14384" y="19531"/>
            <a:ext cx="12192000" cy="5495444"/>
          </a:xfrm>
        </p:spPr>
        <p:txBody>
          <a:bodyPr anchor="t">
            <a:normAutofit/>
          </a:bodyPr>
          <a:lstStyle/>
          <a:p>
            <a:pPr marL="0" indent="0">
              <a:buNone/>
            </a:pPr>
            <a:r>
              <a:rPr lang="en-IN" dirty="0">
                <a:effectLst/>
                <a:latin typeface="Avenir LT Std 45 Book"/>
                <a:ea typeface="Calibri" panose="020F0502020204030204" pitchFamily="34" charset="0"/>
                <a:cs typeface="Mangal" panose="02040503050203030202" pitchFamily="18" charset="0"/>
              </a:rPr>
              <a:t>12) How does Canada's GCI compare with other North American countries, and what factors contribute to its ranking?</a:t>
            </a:r>
            <a:endParaRPr lang="en-IN" dirty="0"/>
          </a:p>
        </p:txBody>
      </p:sp>
      <p:pic>
        <p:nvPicPr>
          <p:cNvPr id="5" name="Picture 4">
            <a:extLst>
              <a:ext uri="{FF2B5EF4-FFF2-40B4-BE49-F238E27FC236}">
                <a16:creationId xmlns:a16="http://schemas.microsoft.com/office/drawing/2014/main" id="{3D233078-18D1-B9AA-7A39-8082E0BF5E05}"/>
              </a:ext>
            </a:extLst>
          </p:cNvPr>
          <p:cNvPicPr>
            <a:picLocks noChangeAspect="1"/>
          </p:cNvPicPr>
          <p:nvPr/>
        </p:nvPicPr>
        <p:blipFill>
          <a:blip r:embed="rId4"/>
          <a:stretch>
            <a:fillRect/>
          </a:stretch>
        </p:blipFill>
        <p:spPr>
          <a:xfrm>
            <a:off x="1917570" y="1148408"/>
            <a:ext cx="7574921" cy="4163854"/>
          </a:xfrm>
          <a:prstGeom prst="rect">
            <a:avLst/>
          </a:prstGeom>
        </p:spPr>
      </p:pic>
    </p:spTree>
    <p:extLst>
      <p:ext uri="{BB962C8B-B14F-4D97-AF65-F5344CB8AC3E}">
        <p14:creationId xmlns:p14="http://schemas.microsoft.com/office/powerpoint/2010/main" val="229790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DEBA9E1-DF32-76C8-9DED-EF09E98A5FE0}"/>
              </a:ext>
            </a:extLst>
          </p:cNvPr>
          <p:cNvSpPr>
            <a:spLocks noGrp="1"/>
          </p:cNvSpPr>
          <p:nvPr>
            <p:ph idx="1"/>
          </p:nvPr>
        </p:nvSpPr>
        <p:spPr>
          <a:xfrm>
            <a:off x="14384" y="19531"/>
            <a:ext cx="10723955" cy="5495444"/>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13) What can be inferred about the cybersecurity state of Australia based on its CEI, GCI, NCSI, and DDL?</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a:extLst>
              <a:ext uri="{FF2B5EF4-FFF2-40B4-BE49-F238E27FC236}">
                <a16:creationId xmlns:a16="http://schemas.microsoft.com/office/drawing/2014/main" id="{1F5AEFA1-E9F7-1509-B966-C8B5CC924812}"/>
              </a:ext>
            </a:extLst>
          </p:cNvPr>
          <p:cNvPicPr>
            <a:picLocks noChangeAspect="1"/>
          </p:cNvPicPr>
          <p:nvPr/>
        </p:nvPicPr>
        <p:blipFill>
          <a:blip r:embed="rId4"/>
          <a:stretch>
            <a:fillRect/>
          </a:stretch>
        </p:blipFill>
        <p:spPr>
          <a:xfrm>
            <a:off x="2674374" y="880551"/>
            <a:ext cx="7029526" cy="4860565"/>
          </a:xfrm>
          <a:prstGeom prst="rect">
            <a:avLst/>
          </a:prstGeom>
        </p:spPr>
      </p:pic>
    </p:spTree>
    <p:extLst>
      <p:ext uri="{BB962C8B-B14F-4D97-AF65-F5344CB8AC3E}">
        <p14:creationId xmlns:p14="http://schemas.microsoft.com/office/powerpoint/2010/main" val="143621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169CCC-7541-E1E1-F19E-999A3CFD572D}"/>
              </a:ext>
            </a:extLst>
          </p:cNvPr>
          <p:cNvSpPr>
            <a:spLocks noGrp="1"/>
          </p:cNvSpPr>
          <p:nvPr>
            <p:ph idx="1"/>
          </p:nvPr>
        </p:nvSpPr>
        <p:spPr>
          <a:xfrm>
            <a:off x="14384" y="19531"/>
            <a:ext cx="12157645" cy="5495444"/>
          </a:xfrm>
        </p:spPr>
        <p:txBody>
          <a:bodyPr anchor="t">
            <a:normAutofit/>
          </a:bodyPr>
          <a:lstStyle/>
          <a:p>
            <a:pPr marL="0" indent="0">
              <a:buNone/>
            </a:pPr>
            <a:r>
              <a:rPr lang="en-IN" kern="100" dirty="0">
                <a:effectLst/>
                <a:latin typeface="Avenir LT Std 45 Book"/>
                <a:ea typeface="Calibri" panose="020F0502020204030204" pitchFamily="34" charset="0"/>
                <a:cs typeface="Mangal" panose="02040503050203030202" pitchFamily="18" charset="0"/>
              </a:rPr>
              <a:t>14) What patterns emerge when comparing CEI scores across different regions (Africa, Europe, Asia-Pacific, etc.)?</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pic>
        <p:nvPicPr>
          <p:cNvPr id="5" name="Picture 4">
            <a:extLst>
              <a:ext uri="{FF2B5EF4-FFF2-40B4-BE49-F238E27FC236}">
                <a16:creationId xmlns:a16="http://schemas.microsoft.com/office/drawing/2014/main" id="{8ACCF978-23CF-DD68-E5E8-9DCB804FFD8C}"/>
              </a:ext>
            </a:extLst>
          </p:cNvPr>
          <p:cNvPicPr>
            <a:picLocks noChangeAspect="1"/>
          </p:cNvPicPr>
          <p:nvPr/>
        </p:nvPicPr>
        <p:blipFill>
          <a:blip r:embed="rId4"/>
          <a:stretch>
            <a:fillRect/>
          </a:stretch>
        </p:blipFill>
        <p:spPr>
          <a:xfrm>
            <a:off x="2845664" y="953307"/>
            <a:ext cx="6515056" cy="4787809"/>
          </a:xfrm>
          <a:prstGeom prst="rect">
            <a:avLst/>
          </a:prstGeom>
        </p:spPr>
      </p:pic>
    </p:spTree>
    <p:extLst>
      <p:ext uri="{BB962C8B-B14F-4D97-AF65-F5344CB8AC3E}">
        <p14:creationId xmlns:p14="http://schemas.microsoft.com/office/powerpoint/2010/main" val="1545095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CC59F7A-2AF1-4970-9035-D2568B5DF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8">
            <a:extLst>
              <a:ext uri="{FF2B5EF4-FFF2-40B4-BE49-F238E27FC236}">
                <a16:creationId xmlns:a16="http://schemas.microsoft.com/office/drawing/2014/main" id="{973A6C28-160C-4725-8074-903C14EE9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 y="2495548"/>
            <a:ext cx="4362451" cy="4362451"/>
          </a:xfrm>
          <a:custGeom>
            <a:avLst/>
            <a:gdLst>
              <a:gd name="connsiteX0" fmla="*/ 0 w 2385918"/>
              <a:gd name="connsiteY0" fmla="*/ 0 h 2385918"/>
              <a:gd name="connsiteX1" fmla="*/ 2385918 w 2385918"/>
              <a:gd name="connsiteY1" fmla="*/ 0 h 2385918"/>
              <a:gd name="connsiteX2" fmla="*/ 2385918 w 2385918"/>
              <a:gd name="connsiteY2" fmla="*/ 2385918 h 2385918"/>
              <a:gd name="connsiteX3" fmla="*/ 0 w 2385918"/>
              <a:gd name="connsiteY3" fmla="*/ 2385918 h 2385918"/>
              <a:gd name="connsiteX4" fmla="*/ 0 w 2385918"/>
              <a:gd name="connsiteY4" fmla="*/ 0 h 2385918"/>
              <a:gd name="connsiteX0" fmla="*/ 0 w 2385918"/>
              <a:gd name="connsiteY0" fmla="*/ 0 h 2385918"/>
              <a:gd name="connsiteX1" fmla="*/ 2385918 w 2385918"/>
              <a:gd name="connsiteY1" fmla="*/ 0 h 2385918"/>
              <a:gd name="connsiteX2" fmla="*/ 0 w 2385918"/>
              <a:gd name="connsiteY2" fmla="*/ 2385918 h 2385918"/>
              <a:gd name="connsiteX3" fmla="*/ 0 w 2385918"/>
              <a:gd name="connsiteY3" fmla="*/ 0 h 2385918"/>
            </a:gdLst>
            <a:ahLst/>
            <a:cxnLst>
              <a:cxn ang="0">
                <a:pos x="connsiteX0" y="connsiteY0"/>
              </a:cxn>
              <a:cxn ang="0">
                <a:pos x="connsiteX1" y="connsiteY1"/>
              </a:cxn>
              <a:cxn ang="0">
                <a:pos x="connsiteX2" y="connsiteY2"/>
              </a:cxn>
              <a:cxn ang="0">
                <a:pos x="connsiteX3" y="connsiteY3"/>
              </a:cxn>
            </a:cxnLst>
            <a:rect l="l" t="t" r="r" b="b"/>
            <a:pathLst>
              <a:path w="2385918" h="2385918">
                <a:moveTo>
                  <a:pt x="0" y="0"/>
                </a:moveTo>
                <a:lnTo>
                  <a:pt x="2385918" y="0"/>
                </a:lnTo>
                <a:lnTo>
                  <a:pt x="0" y="2385918"/>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C84770F-6C1F-4355-9621-8DC3944BA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9972" y="2513097"/>
            <a:ext cx="4362451" cy="4362451"/>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6572CF43-A522-41F2-BA92-E7E80D356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7185" y="591610"/>
            <a:ext cx="10166410" cy="5194013"/>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293" y="817751"/>
            <a:ext cx="10591798" cy="5242029"/>
          </a:xfrm>
          <a:prstGeom prst="rect">
            <a:avLst/>
          </a:prstGeom>
          <a:ln w="38100">
            <a:noFill/>
          </a:ln>
          <a:effectLst>
            <a:outerShdw dist="165100" dir="816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2ACEA3-C30C-CBE5-79B0-1D7833E91F12}"/>
              </a:ext>
            </a:extLst>
          </p:cNvPr>
          <p:cNvSpPr>
            <a:spLocks noGrp="1"/>
          </p:cNvSpPr>
          <p:nvPr>
            <p:ph idx="1"/>
          </p:nvPr>
        </p:nvSpPr>
        <p:spPr>
          <a:xfrm>
            <a:off x="14384" y="19531"/>
            <a:ext cx="12192000" cy="5495444"/>
          </a:xfrm>
        </p:spPr>
        <p:txBody>
          <a:bodyPr anchor="t">
            <a:normAutofit/>
          </a:bodyPr>
          <a:lstStyle/>
          <a:p>
            <a:pPr marL="0" indent="0">
              <a:spcAft>
                <a:spcPts val="800"/>
              </a:spcAft>
              <a:buNone/>
            </a:pPr>
            <a:r>
              <a:rPr lang="en-IN" kern="100" dirty="0">
                <a:effectLst/>
                <a:latin typeface="Avenir LT Std 45 Book"/>
                <a:ea typeface="Calibri" panose="020F0502020204030204" pitchFamily="34" charset="0"/>
                <a:cs typeface="Mangal" panose="02040503050203030202" pitchFamily="18" charset="0"/>
              </a:rPr>
              <a:t>15) How does the Digital Development Level (DDL) impact the GCI scores within the Asia-Pacific region?</a:t>
            </a:r>
            <a:endParaRPr lang="en-IN" kern="100" dirty="0">
              <a:effectLst/>
              <a:latin typeface="Calibri" panose="020F0502020204030204" pitchFamily="34" charset="0"/>
              <a:ea typeface="Calibri" panose="020F0502020204030204" pitchFamily="34" charset="0"/>
              <a:cs typeface="Mangal" panose="02040503050203030202" pitchFamily="18" charset="0"/>
            </a:endParaRPr>
          </a:p>
        </p:txBody>
      </p:sp>
      <p:pic>
        <p:nvPicPr>
          <p:cNvPr id="5" name="Picture 4">
            <a:extLst>
              <a:ext uri="{FF2B5EF4-FFF2-40B4-BE49-F238E27FC236}">
                <a16:creationId xmlns:a16="http://schemas.microsoft.com/office/drawing/2014/main" id="{C4C365BA-8313-85AD-A773-C97DD84445A1}"/>
              </a:ext>
            </a:extLst>
          </p:cNvPr>
          <p:cNvPicPr>
            <a:picLocks noChangeAspect="1"/>
          </p:cNvPicPr>
          <p:nvPr/>
        </p:nvPicPr>
        <p:blipFill>
          <a:blip r:embed="rId4"/>
          <a:stretch>
            <a:fillRect/>
          </a:stretch>
        </p:blipFill>
        <p:spPr>
          <a:xfrm>
            <a:off x="4424129" y="1990524"/>
            <a:ext cx="3343742" cy="2876951"/>
          </a:xfrm>
          <a:prstGeom prst="rect">
            <a:avLst/>
          </a:prstGeom>
        </p:spPr>
      </p:pic>
    </p:spTree>
    <p:extLst>
      <p:ext uri="{BB962C8B-B14F-4D97-AF65-F5344CB8AC3E}">
        <p14:creationId xmlns:p14="http://schemas.microsoft.com/office/powerpoint/2010/main" val="308706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0C817C9-850F-4FB6-B93B-CF3076C4A5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67782" cy="3306479"/>
            <a:chOff x="11619770" y="-2005"/>
            <a:chExt cx="567782" cy="3306479"/>
          </a:xfrm>
        </p:grpSpPr>
        <p:sp>
          <p:nvSpPr>
            <p:cNvPr id="10" name="Freeform: Shape 9">
              <a:extLst>
                <a:ext uri="{FF2B5EF4-FFF2-40B4-BE49-F238E27FC236}">
                  <a16:creationId xmlns:a16="http://schemas.microsoft.com/office/drawing/2014/main" id="{159433A8-B67D-4675-AFDE-131069A70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3" name="Rectangle 12">
            <a:extLst>
              <a:ext uri="{FF2B5EF4-FFF2-40B4-BE49-F238E27FC236}">
                <a16:creationId xmlns:a16="http://schemas.microsoft.com/office/drawing/2014/main" id="{9D3643A2-C7A3-4BF6-B486-443902504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9EF8FBA-A282-4B11-B85A-894F3CEFB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Yellow question mark">
            <a:extLst>
              <a:ext uri="{FF2B5EF4-FFF2-40B4-BE49-F238E27FC236}">
                <a16:creationId xmlns:a16="http://schemas.microsoft.com/office/drawing/2014/main" id="{FB5BBC93-30C1-5160-153B-1D67C3EE1630}"/>
              </a:ext>
            </a:extLst>
          </p:cNvPr>
          <p:cNvPicPr>
            <a:picLocks noChangeAspect="1"/>
          </p:cNvPicPr>
          <p:nvPr/>
        </p:nvPicPr>
        <p:blipFill>
          <a:blip r:embed="rId4">
            <a:alphaModFix amt="50000"/>
          </a:blip>
          <a:srcRect b="6250"/>
          <a:stretch/>
        </p:blipFill>
        <p:spPr>
          <a:xfrm>
            <a:off x="1" y="10"/>
            <a:ext cx="12191999" cy="6857990"/>
          </a:xfrm>
          <a:prstGeom prst="rect">
            <a:avLst/>
          </a:prstGeom>
        </p:spPr>
      </p:pic>
      <p:sp>
        <p:nvSpPr>
          <p:cNvPr id="2" name="Title 1">
            <a:extLst>
              <a:ext uri="{FF2B5EF4-FFF2-40B4-BE49-F238E27FC236}">
                <a16:creationId xmlns:a16="http://schemas.microsoft.com/office/drawing/2014/main" id="{E7456B4E-0C88-543E-2F6C-920550549778}"/>
              </a:ext>
            </a:extLst>
          </p:cNvPr>
          <p:cNvSpPr>
            <a:spLocks noGrp="1"/>
          </p:cNvSpPr>
          <p:nvPr>
            <p:ph type="title"/>
          </p:nvPr>
        </p:nvSpPr>
        <p:spPr>
          <a:xfrm>
            <a:off x="800101" y="1417983"/>
            <a:ext cx="6223552" cy="2902225"/>
          </a:xfrm>
        </p:spPr>
        <p:txBody>
          <a:bodyPr vert="horz" lIns="91440" tIns="45720" rIns="91440" bIns="45720" rtlCol="0" anchor="t">
            <a:normAutofit/>
          </a:bodyPr>
          <a:lstStyle/>
          <a:p>
            <a:pPr>
              <a:lnSpc>
                <a:spcPct val="130000"/>
              </a:lnSpc>
            </a:pPr>
            <a:r>
              <a:rPr lang="en-US" sz="3600" b="1" spc="1300" dirty="0">
                <a:solidFill>
                  <a:srgbClr val="FFFFFF"/>
                </a:solidFill>
                <a:latin typeface="Amasis MT Pro Black" panose="02040A04050005020304" pitchFamily="18" charset="0"/>
              </a:rPr>
              <a:t>ANALYSIS QUESTIONS</a:t>
            </a:r>
          </a:p>
        </p:txBody>
      </p:sp>
      <p:sp>
        <p:nvSpPr>
          <p:cNvPr id="17" name="Rectangle 6">
            <a:extLst>
              <a:ext uri="{FF2B5EF4-FFF2-40B4-BE49-F238E27FC236}">
                <a16:creationId xmlns:a16="http://schemas.microsoft.com/office/drawing/2014/main" id="{1E7A38B1-D1AF-46C0-A648-4F09838CB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446417" y="2940297"/>
            <a:ext cx="3745582" cy="3917703"/>
          </a:xfrm>
          <a:custGeom>
            <a:avLst/>
            <a:gdLst>
              <a:gd name="connsiteX0" fmla="*/ 0 w 1369143"/>
              <a:gd name="connsiteY0" fmla="*/ 0 h 1229160"/>
              <a:gd name="connsiteX1" fmla="*/ 1369143 w 1369143"/>
              <a:gd name="connsiteY1" fmla="*/ 0 h 1229160"/>
              <a:gd name="connsiteX2" fmla="*/ 1369143 w 1369143"/>
              <a:gd name="connsiteY2" fmla="*/ 1229160 h 1229160"/>
              <a:gd name="connsiteX3" fmla="*/ 0 w 1369143"/>
              <a:gd name="connsiteY3" fmla="*/ 1229160 h 1229160"/>
              <a:gd name="connsiteX4" fmla="*/ 0 w 1369143"/>
              <a:gd name="connsiteY4" fmla="*/ 0 h 1229160"/>
              <a:gd name="connsiteX0" fmla="*/ 0 w 1369143"/>
              <a:gd name="connsiteY0" fmla="*/ 0 h 1229160"/>
              <a:gd name="connsiteX1" fmla="*/ 1369143 w 1369143"/>
              <a:gd name="connsiteY1" fmla="*/ 0 h 1229160"/>
              <a:gd name="connsiteX2" fmla="*/ 0 w 1369143"/>
              <a:gd name="connsiteY2" fmla="*/ 1229160 h 1229160"/>
              <a:gd name="connsiteX3" fmla="*/ 0 w 1369143"/>
              <a:gd name="connsiteY3" fmla="*/ 0 h 1229160"/>
            </a:gdLst>
            <a:ahLst/>
            <a:cxnLst>
              <a:cxn ang="0">
                <a:pos x="connsiteX0" y="connsiteY0"/>
              </a:cxn>
              <a:cxn ang="0">
                <a:pos x="connsiteX1" y="connsiteY1"/>
              </a:cxn>
              <a:cxn ang="0">
                <a:pos x="connsiteX2" y="connsiteY2"/>
              </a:cxn>
              <a:cxn ang="0">
                <a:pos x="connsiteX3" y="connsiteY3"/>
              </a:cxn>
            </a:cxnLst>
            <a:rect l="l" t="t" r="r" b="b"/>
            <a:pathLst>
              <a:path w="1369143" h="1229160">
                <a:moveTo>
                  <a:pt x="0" y="0"/>
                </a:moveTo>
                <a:lnTo>
                  <a:pt x="1369143" y="0"/>
                </a:lnTo>
                <a:lnTo>
                  <a:pt x="0" y="1229160"/>
                </a:lnTo>
                <a:lnTo>
                  <a:pt x="0" y="0"/>
                </a:lnTo>
                <a:close/>
              </a:path>
            </a:pathLst>
          </a:cu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042AC6AC-B644-4C7C-BEC7-E2B9E90FA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417" y="2940297"/>
            <a:ext cx="3745582" cy="3917703"/>
          </a:xfrm>
          <a:custGeom>
            <a:avLst/>
            <a:gdLst>
              <a:gd name="connsiteX0" fmla="*/ 3745582 w 3745582"/>
              <a:gd name="connsiteY0" fmla="*/ 0 h 3917703"/>
              <a:gd name="connsiteX1" fmla="*/ 3745582 w 3745582"/>
              <a:gd name="connsiteY1" fmla="*/ 3917703 h 3917703"/>
              <a:gd name="connsiteX2" fmla="*/ 0 w 3745582"/>
              <a:gd name="connsiteY2" fmla="*/ 3917703 h 3917703"/>
            </a:gdLst>
            <a:ahLst/>
            <a:cxnLst>
              <a:cxn ang="0">
                <a:pos x="connsiteX0" y="connsiteY0"/>
              </a:cxn>
              <a:cxn ang="0">
                <a:pos x="connsiteX1" y="connsiteY1"/>
              </a:cxn>
              <a:cxn ang="0">
                <a:pos x="connsiteX2" y="connsiteY2"/>
              </a:cxn>
            </a:cxnLst>
            <a:rect l="l" t="t" r="r" b="b"/>
            <a:pathLst>
              <a:path w="3745582" h="3917703">
                <a:moveTo>
                  <a:pt x="3745582" y="0"/>
                </a:moveTo>
                <a:lnTo>
                  <a:pt x="3745582" y="3917703"/>
                </a:lnTo>
                <a:lnTo>
                  <a:pt x="0" y="3917703"/>
                </a:lnTo>
                <a:close/>
              </a:path>
            </a:pathLst>
          </a:custGeom>
          <a:blipFill dpi="0" rotWithShape="0">
            <a:blip r:embed="rId5">
              <a:alphaModFix amt="99000"/>
              <a:extLst>
                <a:ext uri="{96DAC541-7B7A-43D3-8B79-37D633B846F1}">
                  <asvg:svgBlip xmlns:asvg="http://schemas.microsoft.com/office/drawing/2016/SVG/main" r:embed="rId6"/>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76185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9D4B8-2366-3D4B-03BB-616D4CBA6B4D}"/>
              </a:ext>
            </a:extLst>
          </p:cNvPr>
          <p:cNvSpPr>
            <a:spLocks noGrp="1"/>
          </p:cNvSpPr>
          <p:nvPr>
            <p:ph type="title"/>
          </p:nvPr>
        </p:nvSpPr>
        <p:spPr>
          <a:xfrm>
            <a:off x="808661" y="365125"/>
            <a:ext cx="10357666" cy="509946"/>
          </a:xfrm>
        </p:spPr>
        <p:txBody>
          <a:bodyPr>
            <a:normAutofit/>
          </a:bodyPr>
          <a:lstStyle/>
          <a:p>
            <a:r>
              <a:rPr lang="en-IN" sz="2000" b="1" dirty="0">
                <a:effectLst/>
                <a:latin typeface="Aptos Black" panose="020B0004020202020204" pitchFamily="34" charset="0"/>
                <a:ea typeface="Calibri" panose="020F0502020204030204" pitchFamily="34" charset="0"/>
                <a:cs typeface="Mangal" panose="02040503050203030202" pitchFamily="18" charset="0"/>
              </a:rPr>
              <a:t>Correlation Analysis</a:t>
            </a:r>
            <a:endParaRPr lang="en-IN" sz="2000" dirty="0">
              <a:latin typeface="Aptos Black" panose="020B0004020202020204" pitchFamily="34" charset="0"/>
            </a:endParaRPr>
          </a:p>
        </p:txBody>
      </p:sp>
      <p:pic>
        <p:nvPicPr>
          <p:cNvPr id="5" name="Content Placeholder 4">
            <a:extLst>
              <a:ext uri="{FF2B5EF4-FFF2-40B4-BE49-F238E27FC236}">
                <a16:creationId xmlns:a16="http://schemas.microsoft.com/office/drawing/2014/main" id="{AB83AB1F-431D-DDE0-06BD-E278481A4B07}"/>
              </a:ext>
            </a:extLst>
          </p:cNvPr>
          <p:cNvPicPr>
            <a:picLocks noGrp="1" noChangeAspect="1"/>
          </p:cNvPicPr>
          <p:nvPr>
            <p:ph idx="1"/>
          </p:nvPr>
        </p:nvPicPr>
        <p:blipFill>
          <a:blip r:embed="rId2"/>
          <a:stretch>
            <a:fillRect/>
          </a:stretch>
        </p:blipFill>
        <p:spPr>
          <a:xfrm>
            <a:off x="369147" y="1173726"/>
            <a:ext cx="6831366" cy="4114800"/>
          </a:xfrm>
        </p:spPr>
      </p:pic>
      <p:sp>
        <p:nvSpPr>
          <p:cNvPr id="6" name="Rectangle: Rounded Corners 5">
            <a:extLst>
              <a:ext uri="{FF2B5EF4-FFF2-40B4-BE49-F238E27FC236}">
                <a16:creationId xmlns:a16="http://schemas.microsoft.com/office/drawing/2014/main" id="{C475DFB2-8A18-BD3A-CC01-D49FE7FDDEEE}"/>
              </a:ext>
            </a:extLst>
          </p:cNvPr>
          <p:cNvSpPr/>
          <p:nvPr/>
        </p:nvSpPr>
        <p:spPr>
          <a:xfrm>
            <a:off x="7364362" y="365125"/>
            <a:ext cx="4355690" cy="59865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scatter plot illustrates a strong positive correlation between DDL and GCI, with a correlation coefficient of 0.7218 and a p-value of 3.3847e-32. This suggests that countries with higher levels of digital development tend to also have higher levels of cybersecurity maturity. The red regression line further emphasizes this relationship, showing a clear upward trend. This finding implies that investments in digital development can contribute to improved cybersecurity capabilities, potentially leading to better protection against cyber threats and enhanced digital resilience.</a:t>
            </a:r>
            <a:endParaRPr lang="en-IN" dirty="0"/>
          </a:p>
        </p:txBody>
      </p:sp>
    </p:spTree>
    <p:extLst>
      <p:ext uri="{BB962C8B-B14F-4D97-AF65-F5344CB8AC3E}">
        <p14:creationId xmlns:p14="http://schemas.microsoft.com/office/powerpoint/2010/main" val="83144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D5E18-584F-B64C-CC8D-826037171487}"/>
              </a:ext>
            </a:extLst>
          </p:cNvPr>
          <p:cNvSpPr>
            <a:spLocks noGrp="1"/>
          </p:cNvSpPr>
          <p:nvPr>
            <p:ph type="title"/>
          </p:nvPr>
        </p:nvSpPr>
        <p:spPr>
          <a:xfrm>
            <a:off x="808661" y="365125"/>
            <a:ext cx="10357666" cy="824578"/>
          </a:xfrm>
        </p:spPr>
        <p:txBody>
          <a:bodyPr/>
          <a:lstStyle/>
          <a:p>
            <a:r>
              <a:rPr lang="en-IN" sz="1800" dirty="0">
                <a:effectLst/>
                <a:latin typeface="Avenir LT Std 45 Book"/>
                <a:ea typeface="Calibri" panose="020F0502020204030204" pitchFamily="34" charset="0"/>
                <a:cs typeface="Mangal" panose="02040503050203030202" pitchFamily="18" charset="0"/>
              </a:rPr>
              <a:t> </a:t>
            </a:r>
            <a:r>
              <a:rPr lang="en-IN" sz="2000" b="1" dirty="0">
                <a:effectLst/>
                <a:latin typeface="Aptos Black" panose="020B0004020202020204" pitchFamily="34" charset="0"/>
                <a:ea typeface="Calibri" panose="020F0502020204030204" pitchFamily="34" charset="0"/>
                <a:cs typeface="Mangal" panose="02040503050203030202" pitchFamily="18" charset="0"/>
              </a:rPr>
              <a:t>Cluster Analysis</a:t>
            </a:r>
            <a:endParaRPr lang="en-IN" sz="2000" dirty="0">
              <a:latin typeface="Aptos Black" panose="020B0004020202020204" pitchFamily="34" charset="0"/>
            </a:endParaRPr>
          </a:p>
        </p:txBody>
      </p:sp>
      <p:pic>
        <p:nvPicPr>
          <p:cNvPr id="5" name="Content Placeholder 4">
            <a:extLst>
              <a:ext uri="{FF2B5EF4-FFF2-40B4-BE49-F238E27FC236}">
                <a16:creationId xmlns:a16="http://schemas.microsoft.com/office/drawing/2014/main" id="{8A33B024-7F12-A5D8-9BCA-ECE967EB0C7E}"/>
              </a:ext>
            </a:extLst>
          </p:cNvPr>
          <p:cNvPicPr>
            <a:picLocks noGrp="1" noChangeAspect="1"/>
          </p:cNvPicPr>
          <p:nvPr>
            <p:ph idx="1"/>
          </p:nvPr>
        </p:nvPicPr>
        <p:blipFill>
          <a:blip r:embed="rId2"/>
          <a:stretch>
            <a:fillRect/>
          </a:stretch>
        </p:blipFill>
        <p:spPr>
          <a:xfrm>
            <a:off x="535460" y="1189703"/>
            <a:ext cx="5560540" cy="5004620"/>
          </a:xfrm>
        </p:spPr>
      </p:pic>
      <p:sp>
        <p:nvSpPr>
          <p:cNvPr id="9" name="TextBox 8">
            <a:extLst>
              <a:ext uri="{FF2B5EF4-FFF2-40B4-BE49-F238E27FC236}">
                <a16:creationId xmlns:a16="http://schemas.microsoft.com/office/drawing/2014/main" id="{97D4294F-E370-FD20-2A83-F6F1D72C6C09}"/>
              </a:ext>
            </a:extLst>
          </p:cNvPr>
          <p:cNvSpPr txBox="1"/>
          <p:nvPr/>
        </p:nvSpPr>
        <p:spPr>
          <a:xfrm>
            <a:off x="5771534" y="471887"/>
            <a:ext cx="5987847" cy="5909310"/>
          </a:xfrm>
          <a:prstGeom prst="rect">
            <a:avLst/>
          </a:prstGeom>
          <a:noFill/>
        </p:spPr>
        <p:txBody>
          <a:bodyPr wrap="square">
            <a:spAutoFit/>
          </a:bodyPr>
          <a:lstStyle/>
          <a:p>
            <a:r>
              <a:rPr lang="en-US" dirty="0"/>
              <a:t>The scatter plot illustrates the distribution of countries based on their CEI and NCSI scores, with three distinct clusters identified.</a:t>
            </a:r>
          </a:p>
          <a:p>
            <a:r>
              <a:rPr lang="en-US" b="1" dirty="0"/>
              <a:t>Cluster 1</a:t>
            </a:r>
            <a:r>
              <a:rPr lang="en-US" dirty="0"/>
              <a:t> is characterized by countries with relatively low CEI scores and high NCSI scores. This suggests that these countries have a strong cybersecurity posture and are well-prepared to mitigate cyber threats, despite having a lower level of cybersecurity exposure.</a:t>
            </a:r>
          </a:p>
          <a:p>
            <a:r>
              <a:rPr lang="en-US" b="1" dirty="0"/>
              <a:t>Cluster 2</a:t>
            </a:r>
            <a:r>
              <a:rPr lang="en-US" dirty="0"/>
              <a:t> is comprised of countries with very low CEI scores and moderate NCSI scores. This indicates that these countries have a low level of cybersecurity exposure but may still face some challenges in ensuring the security of their networks.</a:t>
            </a:r>
          </a:p>
          <a:p>
            <a:r>
              <a:rPr lang="en-US" b="1" dirty="0"/>
              <a:t>Cluster 3</a:t>
            </a:r>
            <a:r>
              <a:rPr lang="en-US" dirty="0"/>
              <a:t> includes countries with high CEI scores and low NCSI scores. This suggests that these countries are vulnerable to cyber threats and may have limited capabilities to protect their digital infrastructure.</a:t>
            </a:r>
          </a:p>
          <a:p>
            <a:r>
              <a:rPr lang="en-US" dirty="0"/>
              <a:t>Overall, the plot reveals that there are distinct groupings of countries based on their cybersecurity profiles, highlighting the diverse range of experiences and challenges faced by different nations in this area.</a:t>
            </a:r>
          </a:p>
        </p:txBody>
      </p:sp>
    </p:spTree>
    <p:extLst>
      <p:ext uri="{BB962C8B-B14F-4D97-AF65-F5344CB8AC3E}">
        <p14:creationId xmlns:p14="http://schemas.microsoft.com/office/powerpoint/2010/main" val="3518919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364CC-05C5-A9E7-C6D1-2C3E6E513714}"/>
              </a:ext>
            </a:extLst>
          </p:cNvPr>
          <p:cNvSpPr>
            <a:spLocks noGrp="1"/>
          </p:cNvSpPr>
          <p:nvPr>
            <p:ph type="title"/>
          </p:nvPr>
        </p:nvSpPr>
        <p:spPr/>
        <p:txBody>
          <a:bodyPr>
            <a:normAutofit/>
          </a:bodyPr>
          <a:lstStyle/>
          <a:p>
            <a:r>
              <a:rPr lang="en-IN" sz="2400" b="1" dirty="0">
                <a:effectLst/>
                <a:latin typeface="Aptos Black" panose="020B0004020202020204" pitchFamily="34" charset="0"/>
                <a:ea typeface="Calibri" panose="020F0502020204030204" pitchFamily="34" charset="0"/>
                <a:cs typeface="Mangal" panose="02040503050203030202" pitchFamily="18" charset="0"/>
              </a:rPr>
              <a:t>Regional Comparisons</a:t>
            </a:r>
            <a:endParaRPr lang="en-IN" sz="2400" dirty="0">
              <a:latin typeface="Aptos Black" panose="020B0004020202020204" pitchFamily="34" charset="0"/>
            </a:endParaRPr>
          </a:p>
        </p:txBody>
      </p:sp>
      <p:pic>
        <p:nvPicPr>
          <p:cNvPr id="5" name="Content Placeholder 4">
            <a:extLst>
              <a:ext uri="{FF2B5EF4-FFF2-40B4-BE49-F238E27FC236}">
                <a16:creationId xmlns:a16="http://schemas.microsoft.com/office/drawing/2014/main" id="{6F9A4258-2B06-1AEB-968D-7CFF55295D52}"/>
              </a:ext>
            </a:extLst>
          </p:cNvPr>
          <p:cNvPicPr>
            <a:picLocks noGrp="1" noChangeAspect="1"/>
          </p:cNvPicPr>
          <p:nvPr>
            <p:ph idx="1"/>
          </p:nvPr>
        </p:nvPicPr>
        <p:blipFill>
          <a:blip r:embed="rId2"/>
          <a:stretch>
            <a:fillRect/>
          </a:stretch>
        </p:blipFill>
        <p:spPr>
          <a:xfrm>
            <a:off x="2389239" y="2019300"/>
            <a:ext cx="8367251" cy="4114800"/>
          </a:xfrm>
        </p:spPr>
      </p:pic>
    </p:spTree>
    <p:extLst>
      <p:ext uri="{BB962C8B-B14F-4D97-AF65-F5344CB8AC3E}">
        <p14:creationId xmlns:p14="http://schemas.microsoft.com/office/powerpoint/2010/main" val="26250505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C71E-CE79-0E2B-013F-3D10787A924A}"/>
              </a:ext>
            </a:extLst>
          </p:cNvPr>
          <p:cNvSpPr>
            <a:spLocks noGrp="1"/>
          </p:cNvSpPr>
          <p:nvPr>
            <p:ph type="title"/>
          </p:nvPr>
        </p:nvSpPr>
        <p:spPr/>
        <p:txBody>
          <a:bodyPr/>
          <a:lstStyle/>
          <a:p>
            <a:r>
              <a:rPr lang="en-IN" sz="1800" dirty="0">
                <a:effectLst/>
                <a:latin typeface="Avenir LT Std 45 Book"/>
                <a:ea typeface="Calibri" panose="020F0502020204030204" pitchFamily="34" charset="0"/>
                <a:cs typeface="Mangal" panose="02040503050203030202" pitchFamily="18" charset="0"/>
              </a:rPr>
              <a:t> </a:t>
            </a:r>
            <a:r>
              <a:rPr lang="en-IN" sz="1800" b="1" dirty="0">
                <a:effectLst/>
                <a:latin typeface="Aptos Black" panose="020B0004020202020204" pitchFamily="34" charset="0"/>
                <a:ea typeface="Calibri" panose="020F0502020204030204" pitchFamily="34" charset="0"/>
                <a:cs typeface="Mangal" panose="02040503050203030202" pitchFamily="18" charset="0"/>
              </a:rPr>
              <a:t>Outlier Analysis</a:t>
            </a:r>
            <a:endParaRPr lang="en-IN" dirty="0">
              <a:latin typeface="Aptos Black" panose="020B0004020202020204" pitchFamily="34" charset="0"/>
            </a:endParaRPr>
          </a:p>
        </p:txBody>
      </p:sp>
      <p:pic>
        <p:nvPicPr>
          <p:cNvPr id="5" name="Content Placeholder 4">
            <a:extLst>
              <a:ext uri="{FF2B5EF4-FFF2-40B4-BE49-F238E27FC236}">
                <a16:creationId xmlns:a16="http://schemas.microsoft.com/office/drawing/2014/main" id="{5A2817C5-AE4C-C3AA-216F-1EC7948EB4A5}"/>
              </a:ext>
            </a:extLst>
          </p:cNvPr>
          <p:cNvPicPr>
            <a:picLocks noGrp="1" noChangeAspect="1"/>
          </p:cNvPicPr>
          <p:nvPr>
            <p:ph idx="1"/>
          </p:nvPr>
        </p:nvPicPr>
        <p:blipFill>
          <a:blip r:embed="rId2"/>
          <a:stretch>
            <a:fillRect/>
          </a:stretch>
        </p:blipFill>
        <p:spPr>
          <a:xfrm>
            <a:off x="3754225" y="2019300"/>
            <a:ext cx="4466063" cy="4114800"/>
          </a:xfrm>
        </p:spPr>
      </p:pic>
    </p:spTree>
    <p:extLst>
      <p:ext uri="{BB962C8B-B14F-4D97-AF65-F5344CB8AC3E}">
        <p14:creationId xmlns:p14="http://schemas.microsoft.com/office/powerpoint/2010/main" val="219808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21F0A-9605-F337-CF7E-0CEAD568E95A}"/>
              </a:ext>
            </a:extLst>
          </p:cNvPr>
          <p:cNvSpPr>
            <a:spLocks noGrp="1"/>
          </p:cNvSpPr>
          <p:nvPr>
            <p:ph type="title"/>
          </p:nvPr>
        </p:nvSpPr>
        <p:spPr/>
        <p:txBody>
          <a:bodyPr>
            <a:normAutofit/>
          </a:bodyPr>
          <a:lstStyle/>
          <a:p>
            <a:r>
              <a:rPr lang="en-IN" sz="2400" b="1" dirty="0">
                <a:effectLst/>
                <a:latin typeface="Aptos Black" panose="020B0004020202020204" pitchFamily="34" charset="0"/>
                <a:ea typeface="Calibri" panose="020F0502020204030204" pitchFamily="34" charset="0"/>
                <a:cs typeface="Mangal" panose="02040503050203030202" pitchFamily="18" charset="0"/>
              </a:rPr>
              <a:t>Trend Analysis</a:t>
            </a:r>
            <a:endParaRPr lang="en-IN" sz="2400" dirty="0">
              <a:latin typeface="Aptos Black" panose="020B0004020202020204" pitchFamily="34" charset="0"/>
            </a:endParaRPr>
          </a:p>
        </p:txBody>
      </p:sp>
      <p:pic>
        <p:nvPicPr>
          <p:cNvPr id="5" name="Content Placeholder 4">
            <a:extLst>
              <a:ext uri="{FF2B5EF4-FFF2-40B4-BE49-F238E27FC236}">
                <a16:creationId xmlns:a16="http://schemas.microsoft.com/office/drawing/2014/main" id="{B8CC9B31-2D0A-25E7-7913-685749C2F1EF}"/>
              </a:ext>
            </a:extLst>
          </p:cNvPr>
          <p:cNvPicPr>
            <a:picLocks noGrp="1" noChangeAspect="1"/>
          </p:cNvPicPr>
          <p:nvPr>
            <p:ph idx="1"/>
          </p:nvPr>
        </p:nvPicPr>
        <p:blipFill>
          <a:blip r:embed="rId2"/>
          <a:stretch>
            <a:fillRect/>
          </a:stretch>
        </p:blipFill>
        <p:spPr>
          <a:xfrm>
            <a:off x="3574201" y="2019300"/>
            <a:ext cx="4826111" cy="4114800"/>
          </a:xfrm>
        </p:spPr>
      </p:pic>
    </p:spTree>
    <p:extLst>
      <p:ext uri="{BB962C8B-B14F-4D97-AF65-F5344CB8AC3E}">
        <p14:creationId xmlns:p14="http://schemas.microsoft.com/office/powerpoint/2010/main" val="1518511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0C817C9-850F-4FB6-B93B-CF3076C4A5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67782" cy="3306479"/>
            <a:chOff x="11619770" y="-2005"/>
            <a:chExt cx="567782" cy="3306479"/>
          </a:xfrm>
        </p:grpSpPr>
        <p:sp>
          <p:nvSpPr>
            <p:cNvPr id="11" name="Freeform: Shape 10">
              <a:extLst>
                <a:ext uri="{FF2B5EF4-FFF2-40B4-BE49-F238E27FC236}">
                  <a16:creationId xmlns:a16="http://schemas.microsoft.com/office/drawing/2014/main" id="{159433A8-B67D-4675-AFDE-131069A70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4" name="Rectangle 13">
            <a:extLst>
              <a:ext uri="{FF2B5EF4-FFF2-40B4-BE49-F238E27FC236}">
                <a16:creationId xmlns:a16="http://schemas.microsoft.com/office/drawing/2014/main" id="{CEE15BCE-4322-42F8-BC00-CB6E428BE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0538DC-8AE6-CFB4-2AD5-5285BF4E0A88}"/>
              </a:ext>
            </a:extLst>
          </p:cNvPr>
          <p:cNvSpPr>
            <a:spLocks noGrp="1"/>
          </p:cNvSpPr>
          <p:nvPr>
            <p:ph type="title"/>
          </p:nvPr>
        </p:nvSpPr>
        <p:spPr>
          <a:xfrm>
            <a:off x="1600200" y="1261872"/>
            <a:ext cx="4702277" cy="2402763"/>
          </a:xfrm>
        </p:spPr>
        <p:txBody>
          <a:bodyPr vert="horz" lIns="91440" tIns="45720" rIns="91440" bIns="45720" rtlCol="0" anchor="b">
            <a:normAutofit/>
          </a:bodyPr>
          <a:lstStyle/>
          <a:p>
            <a:pPr>
              <a:lnSpc>
                <a:spcPct val="130000"/>
              </a:lnSpc>
            </a:pPr>
            <a:r>
              <a:rPr lang="en-US" sz="3600" spc="1300" dirty="0"/>
              <a:t>THANK YOU</a:t>
            </a:r>
          </a:p>
        </p:txBody>
      </p:sp>
      <p:grpSp>
        <p:nvGrpSpPr>
          <p:cNvPr id="16" name="Group 15">
            <a:extLst>
              <a:ext uri="{FF2B5EF4-FFF2-40B4-BE49-F238E27FC236}">
                <a16:creationId xmlns:a16="http://schemas.microsoft.com/office/drawing/2014/main" id="{4BEF1980-3C98-4A49-A870-4616B2DA60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81000" cy="3664635"/>
            <a:chOff x="5006254" y="-1431285"/>
            <a:chExt cx="581000" cy="3664635"/>
          </a:xfrm>
        </p:grpSpPr>
        <p:sp>
          <p:nvSpPr>
            <p:cNvPr id="17" name="Rectangle 16">
              <a:extLst>
                <a:ext uri="{FF2B5EF4-FFF2-40B4-BE49-F238E27FC236}">
                  <a16:creationId xmlns:a16="http://schemas.microsoft.com/office/drawing/2014/main" id="{597E33F5-6CB1-4734-8946-5E006E2473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5061025" y="-788944"/>
              <a:ext cx="526229" cy="3022294"/>
            </a:xfrm>
            <a:prstGeom prst="rect">
              <a:avLst/>
            </a:pr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7E4F751-6208-48C7-9840-00A6BDABD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V="1">
              <a:off x="5006254" y="-143128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Handshake">
            <a:extLst>
              <a:ext uri="{FF2B5EF4-FFF2-40B4-BE49-F238E27FC236}">
                <a16:creationId xmlns:a16="http://schemas.microsoft.com/office/drawing/2014/main" id="{73FEA1F5-2CFC-4CDF-EFA7-7088615F60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76253" y="1316204"/>
            <a:ext cx="4186404" cy="4186404"/>
          </a:xfrm>
          <a:prstGeom prst="rect">
            <a:avLst/>
          </a:prstGeom>
        </p:spPr>
      </p:pic>
    </p:spTree>
    <p:extLst>
      <p:ext uri="{BB962C8B-B14F-4D97-AF65-F5344CB8AC3E}">
        <p14:creationId xmlns:p14="http://schemas.microsoft.com/office/powerpoint/2010/main" val="3483039937"/>
      </p:ext>
    </p:extLst>
  </p:cSld>
  <p:clrMapOvr>
    <a:masterClrMapping/>
  </p:clrMapOvr>
</p:sld>
</file>

<file path=ppt/theme/theme1.xml><?xml version="1.0" encoding="utf-8"?>
<a:theme xmlns:a="http://schemas.openxmlformats.org/drawingml/2006/main" name="VeniceBeachVTI">
  <a:themeElements>
    <a:clrScheme name="AnalogousFromLightSeedRightStep">
      <a:dk1>
        <a:srgbClr val="000000"/>
      </a:dk1>
      <a:lt1>
        <a:srgbClr val="FFFFFF"/>
      </a:lt1>
      <a:dk2>
        <a:srgbClr val="243141"/>
      </a:dk2>
      <a:lt2>
        <a:srgbClr val="E8E2E4"/>
      </a:lt2>
      <a:accent1>
        <a:srgbClr val="80AA9F"/>
      </a:accent1>
      <a:accent2>
        <a:srgbClr val="7AAAB2"/>
      </a:accent2>
      <a:accent3>
        <a:srgbClr val="8CA3C1"/>
      </a:accent3>
      <a:accent4>
        <a:srgbClr val="7F80BA"/>
      </a:accent4>
      <a:accent5>
        <a:srgbClr val="A996C6"/>
      </a:accent5>
      <a:accent6>
        <a:srgbClr val="AF7FBA"/>
      </a:accent6>
      <a:hlink>
        <a:srgbClr val="AE697C"/>
      </a:hlink>
      <a:folHlink>
        <a:srgbClr val="7F7F7F"/>
      </a:folHlink>
    </a:clrScheme>
    <a:fontScheme name="Avenir 1">
      <a:majorFont>
        <a:latin typeface="Avenir Next LT Pro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69839BBA-F383-4FFD-B56A-E36ACE43E09D}" vid="{060D2740-A69C-444A-B833-E03D333ADDA7}"/>
    </a:ext>
  </a:extLst>
</a:theme>
</file>

<file path=docProps/app.xml><?xml version="1.0" encoding="utf-8"?>
<Properties xmlns="http://schemas.openxmlformats.org/officeDocument/2006/extended-properties" xmlns:vt="http://schemas.openxmlformats.org/officeDocument/2006/docPropsVTypes">
  <TotalTime>92</TotalTime>
  <Words>1563</Words>
  <Application>Microsoft Office PowerPoint</Application>
  <PresentationFormat>Widescreen</PresentationFormat>
  <Paragraphs>50</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Amasis MT Pro Black</vt:lpstr>
      <vt:lpstr>Aptos Black</vt:lpstr>
      <vt:lpstr>Arial</vt:lpstr>
      <vt:lpstr>Avenir LT Std 45 Book</vt:lpstr>
      <vt:lpstr>Avenir Next LT Pro</vt:lpstr>
      <vt:lpstr>Avenir Next LT Pro Light</vt:lpstr>
      <vt:lpstr>Calibri</vt:lpstr>
      <vt:lpstr>VeniceBeachVTI</vt:lpstr>
      <vt:lpstr>DATA DEFENDER: CYBER CRIME DATA ANALYSIS COMPETITION </vt:lpstr>
      <vt:lpstr>CONTENTS</vt:lpstr>
      <vt:lpstr>QUESTIONS ABOUT THE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QUESTIONS</vt:lpstr>
      <vt:lpstr>Correlation Analysis</vt:lpstr>
      <vt:lpstr> Cluster Analysis</vt:lpstr>
      <vt:lpstr>Regional Comparisons</vt:lpstr>
      <vt:lpstr> Outlier Analysis</vt:lpstr>
      <vt:lpstr>Trend Analysis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MsOffic</dc:creator>
  <cp:lastModifiedBy>MsOffic</cp:lastModifiedBy>
  <cp:revision>2</cp:revision>
  <dcterms:created xsi:type="dcterms:W3CDTF">2024-10-11T02:59:53Z</dcterms:created>
  <dcterms:modified xsi:type="dcterms:W3CDTF">2024-10-11T04:36:29Z</dcterms:modified>
</cp:coreProperties>
</file>